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58" r:id="rId5"/>
    <p:sldId id="259" r:id="rId6"/>
    <p:sldId id="260" r:id="rId7"/>
    <p:sldId id="261" r:id="rId8"/>
    <p:sldId id="272" r:id="rId9"/>
    <p:sldId id="262" r:id="rId10"/>
    <p:sldId id="270" r:id="rId11"/>
    <p:sldId id="263" r:id="rId12"/>
    <p:sldId id="268" r:id="rId13"/>
    <p:sldId id="271" r:id="rId14"/>
    <p:sldId id="273" r:id="rId15"/>
    <p:sldId id="264" r:id="rId16"/>
    <p:sldId id="265" r:id="rId17"/>
    <p:sldId id="2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59AD07-6594-4AB8-8F4A-758D3BE513BF}" v="11" dt="2025-11-07T13:49:27.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7" d="100"/>
          <a:sy n="47" d="100"/>
        </p:scale>
        <p:origin x="104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7DC14-A8DE-24B3-6163-3AE9C4AD78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27AFF81-99E4-C6A0-D366-724E019AF6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6EB0B6A-75F0-A44F-407F-22BF6E8FE6D3}"/>
              </a:ext>
            </a:extLst>
          </p:cNvPr>
          <p:cNvSpPr>
            <a:spLocks noGrp="1"/>
          </p:cNvSpPr>
          <p:nvPr>
            <p:ph type="dt" sz="half" idx="10"/>
          </p:nvPr>
        </p:nvSpPr>
        <p:spPr/>
        <p:txBody>
          <a:bodyPr/>
          <a:lstStyle/>
          <a:p>
            <a:fld id="{0657232D-1C8C-4481-98AE-7144E758614A}" type="datetimeFigureOut">
              <a:rPr lang="en-IN" smtClean="0"/>
              <a:t>08-11-2025</a:t>
            </a:fld>
            <a:endParaRPr lang="en-IN"/>
          </a:p>
        </p:txBody>
      </p:sp>
      <p:sp>
        <p:nvSpPr>
          <p:cNvPr id="5" name="Footer Placeholder 4">
            <a:extLst>
              <a:ext uri="{FF2B5EF4-FFF2-40B4-BE49-F238E27FC236}">
                <a16:creationId xmlns:a16="http://schemas.microsoft.com/office/drawing/2014/main" id="{3229A7E8-D825-90C0-6F20-26A18AA705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05AA57-0A79-42DD-3C80-A725055DBF6D}"/>
              </a:ext>
            </a:extLst>
          </p:cNvPr>
          <p:cNvSpPr>
            <a:spLocks noGrp="1"/>
          </p:cNvSpPr>
          <p:nvPr>
            <p:ph type="sldNum" sz="quarter" idx="12"/>
          </p:nvPr>
        </p:nvSpPr>
        <p:spPr/>
        <p:txBody>
          <a:bodyPr/>
          <a:lstStyle/>
          <a:p>
            <a:fld id="{A0AF3ED1-FA1F-43F1-848E-7E71CCBDE6EC}" type="slidenum">
              <a:rPr lang="en-IN" smtClean="0"/>
              <a:t>‹#›</a:t>
            </a:fld>
            <a:endParaRPr lang="en-IN"/>
          </a:p>
        </p:txBody>
      </p:sp>
    </p:spTree>
    <p:extLst>
      <p:ext uri="{BB962C8B-B14F-4D97-AF65-F5344CB8AC3E}">
        <p14:creationId xmlns:p14="http://schemas.microsoft.com/office/powerpoint/2010/main" val="2760707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9AD21-93B7-F1A4-916D-4CFEE86392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E35E27-64B5-1AD1-2EA4-C4A679E906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9F35D3-6802-0CC3-3B43-EBE692717AAF}"/>
              </a:ext>
            </a:extLst>
          </p:cNvPr>
          <p:cNvSpPr>
            <a:spLocks noGrp="1"/>
          </p:cNvSpPr>
          <p:nvPr>
            <p:ph type="dt" sz="half" idx="10"/>
          </p:nvPr>
        </p:nvSpPr>
        <p:spPr/>
        <p:txBody>
          <a:bodyPr/>
          <a:lstStyle/>
          <a:p>
            <a:fld id="{0657232D-1C8C-4481-98AE-7144E758614A}" type="datetimeFigureOut">
              <a:rPr lang="en-IN" smtClean="0"/>
              <a:t>08-11-2025</a:t>
            </a:fld>
            <a:endParaRPr lang="en-IN"/>
          </a:p>
        </p:txBody>
      </p:sp>
      <p:sp>
        <p:nvSpPr>
          <p:cNvPr id="5" name="Footer Placeholder 4">
            <a:extLst>
              <a:ext uri="{FF2B5EF4-FFF2-40B4-BE49-F238E27FC236}">
                <a16:creationId xmlns:a16="http://schemas.microsoft.com/office/drawing/2014/main" id="{52B5F954-BE57-6813-1C99-CE4B09465D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519658-EBDB-4B54-448E-960169A6B69F}"/>
              </a:ext>
            </a:extLst>
          </p:cNvPr>
          <p:cNvSpPr>
            <a:spLocks noGrp="1"/>
          </p:cNvSpPr>
          <p:nvPr>
            <p:ph type="sldNum" sz="quarter" idx="12"/>
          </p:nvPr>
        </p:nvSpPr>
        <p:spPr/>
        <p:txBody>
          <a:bodyPr/>
          <a:lstStyle/>
          <a:p>
            <a:fld id="{A0AF3ED1-FA1F-43F1-848E-7E71CCBDE6EC}" type="slidenum">
              <a:rPr lang="en-IN" smtClean="0"/>
              <a:t>‹#›</a:t>
            </a:fld>
            <a:endParaRPr lang="en-IN"/>
          </a:p>
        </p:txBody>
      </p:sp>
    </p:spTree>
    <p:extLst>
      <p:ext uri="{BB962C8B-B14F-4D97-AF65-F5344CB8AC3E}">
        <p14:creationId xmlns:p14="http://schemas.microsoft.com/office/powerpoint/2010/main" val="2366839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9A22C-8F3F-7A8B-7EC8-32155D1A97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B8FE35C-E38E-6432-ECDE-796A4CD377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67F30F-5305-D1A0-84C1-6677021B5D0A}"/>
              </a:ext>
            </a:extLst>
          </p:cNvPr>
          <p:cNvSpPr>
            <a:spLocks noGrp="1"/>
          </p:cNvSpPr>
          <p:nvPr>
            <p:ph type="dt" sz="half" idx="10"/>
          </p:nvPr>
        </p:nvSpPr>
        <p:spPr/>
        <p:txBody>
          <a:bodyPr/>
          <a:lstStyle/>
          <a:p>
            <a:fld id="{0657232D-1C8C-4481-98AE-7144E758614A}" type="datetimeFigureOut">
              <a:rPr lang="en-IN" smtClean="0"/>
              <a:t>08-11-2025</a:t>
            </a:fld>
            <a:endParaRPr lang="en-IN"/>
          </a:p>
        </p:txBody>
      </p:sp>
      <p:sp>
        <p:nvSpPr>
          <p:cNvPr id="5" name="Footer Placeholder 4">
            <a:extLst>
              <a:ext uri="{FF2B5EF4-FFF2-40B4-BE49-F238E27FC236}">
                <a16:creationId xmlns:a16="http://schemas.microsoft.com/office/drawing/2014/main" id="{AE2CE0EE-6F2C-92AF-9353-EA25828431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80583F-90F3-2F8D-3CB0-5A7F19748726}"/>
              </a:ext>
            </a:extLst>
          </p:cNvPr>
          <p:cNvSpPr>
            <a:spLocks noGrp="1"/>
          </p:cNvSpPr>
          <p:nvPr>
            <p:ph type="sldNum" sz="quarter" idx="12"/>
          </p:nvPr>
        </p:nvSpPr>
        <p:spPr/>
        <p:txBody>
          <a:bodyPr/>
          <a:lstStyle/>
          <a:p>
            <a:fld id="{A0AF3ED1-FA1F-43F1-848E-7E71CCBDE6EC}" type="slidenum">
              <a:rPr lang="en-IN" smtClean="0"/>
              <a:t>‹#›</a:t>
            </a:fld>
            <a:endParaRPr lang="en-IN"/>
          </a:p>
        </p:txBody>
      </p:sp>
    </p:spTree>
    <p:extLst>
      <p:ext uri="{BB962C8B-B14F-4D97-AF65-F5344CB8AC3E}">
        <p14:creationId xmlns:p14="http://schemas.microsoft.com/office/powerpoint/2010/main" val="1224161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E2D20-9A65-53AF-6BDD-EC6A899A29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1520C6-732B-7642-F936-E7F7804D82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46A028-B629-596C-C4F4-5F25319F2F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B77F2C2-9D74-65BD-96E5-95E02F364DD1}"/>
              </a:ext>
            </a:extLst>
          </p:cNvPr>
          <p:cNvSpPr>
            <a:spLocks noGrp="1"/>
          </p:cNvSpPr>
          <p:nvPr>
            <p:ph type="dt" sz="half" idx="10"/>
          </p:nvPr>
        </p:nvSpPr>
        <p:spPr/>
        <p:txBody>
          <a:bodyPr/>
          <a:lstStyle/>
          <a:p>
            <a:fld id="{0657232D-1C8C-4481-98AE-7144E758614A}" type="datetimeFigureOut">
              <a:rPr lang="en-IN" smtClean="0"/>
              <a:t>08-11-2025</a:t>
            </a:fld>
            <a:endParaRPr lang="en-IN"/>
          </a:p>
        </p:txBody>
      </p:sp>
      <p:sp>
        <p:nvSpPr>
          <p:cNvPr id="6" name="Footer Placeholder 5">
            <a:extLst>
              <a:ext uri="{FF2B5EF4-FFF2-40B4-BE49-F238E27FC236}">
                <a16:creationId xmlns:a16="http://schemas.microsoft.com/office/drawing/2014/main" id="{4C9F3182-4077-06D2-23D2-65B8867FEE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1CCEE0-B694-03D7-EE2E-D21632F52370}"/>
              </a:ext>
            </a:extLst>
          </p:cNvPr>
          <p:cNvSpPr>
            <a:spLocks noGrp="1"/>
          </p:cNvSpPr>
          <p:nvPr>
            <p:ph type="sldNum" sz="quarter" idx="12"/>
          </p:nvPr>
        </p:nvSpPr>
        <p:spPr/>
        <p:txBody>
          <a:bodyPr/>
          <a:lstStyle/>
          <a:p>
            <a:fld id="{A0AF3ED1-FA1F-43F1-848E-7E71CCBDE6EC}" type="slidenum">
              <a:rPr lang="en-IN" smtClean="0"/>
              <a:t>‹#›</a:t>
            </a:fld>
            <a:endParaRPr lang="en-IN"/>
          </a:p>
        </p:txBody>
      </p:sp>
    </p:spTree>
    <p:extLst>
      <p:ext uri="{BB962C8B-B14F-4D97-AF65-F5344CB8AC3E}">
        <p14:creationId xmlns:p14="http://schemas.microsoft.com/office/powerpoint/2010/main" val="1839090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225C6-6073-32AE-AD81-289E5239A0B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5657D3D-9D85-044D-6B27-941837FADB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BCCB24-DEB1-B13A-0698-DE76439AF6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A666C71-3052-8319-D35D-B4BB50CD05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23272B-D468-6BD8-3655-7C776C088D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90E39D5-F83F-43FF-BE79-2E8086B48D13}"/>
              </a:ext>
            </a:extLst>
          </p:cNvPr>
          <p:cNvSpPr>
            <a:spLocks noGrp="1"/>
          </p:cNvSpPr>
          <p:nvPr>
            <p:ph type="dt" sz="half" idx="10"/>
          </p:nvPr>
        </p:nvSpPr>
        <p:spPr/>
        <p:txBody>
          <a:bodyPr/>
          <a:lstStyle/>
          <a:p>
            <a:fld id="{0657232D-1C8C-4481-98AE-7144E758614A}" type="datetimeFigureOut">
              <a:rPr lang="en-IN" smtClean="0"/>
              <a:t>08-11-2025</a:t>
            </a:fld>
            <a:endParaRPr lang="en-IN"/>
          </a:p>
        </p:txBody>
      </p:sp>
      <p:sp>
        <p:nvSpPr>
          <p:cNvPr id="8" name="Footer Placeholder 7">
            <a:extLst>
              <a:ext uri="{FF2B5EF4-FFF2-40B4-BE49-F238E27FC236}">
                <a16:creationId xmlns:a16="http://schemas.microsoft.com/office/drawing/2014/main" id="{968CD1CA-3678-128A-3F70-10EDD0F3650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BF8A627-FBF2-DD33-0145-9DFB9E4A5A79}"/>
              </a:ext>
            </a:extLst>
          </p:cNvPr>
          <p:cNvSpPr>
            <a:spLocks noGrp="1"/>
          </p:cNvSpPr>
          <p:nvPr>
            <p:ph type="sldNum" sz="quarter" idx="12"/>
          </p:nvPr>
        </p:nvSpPr>
        <p:spPr/>
        <p:txBody>
          <a:bodyPr/>
          <a:lstStyle/>
          <a:p>
            <a:fld id="{A0AF3ED1-FA1F-43F1-848E-7E71CCBDE6EC}" type="slidenum">
              <a:rPr lang="en-IN" smtClean="0"/>
              <a:t>‹#›</a:t>
            </a:fld>
            <a:endParaRPr lang="en-IN"/>
          </a:p>
        </p:txBody>
      </p:sp>
    </p:spTree>
    <p:extLst>
      <p:ext uri="{BB962C8B-B14F-4D97-AF65-F5344CB8AC3E}">
        <p14:creationId xmlns:p14="http://schemas.microsoft.com/office/powerpoint/2010/main" val="1338395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DE776-69A1-1F02-77C2-B82ABA5704A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5A1C685-4B69-83A3-702C-C3460B01BCC4}"/>
              </a:ext>
            </a:extLst>
          </p:cNvPr>
          <p:cNvSpPr>
            <a:spLocks noGrp="1"/>
          </p:cNvSpPr>
          <p:nvPr>
            <p:ph type="dt" sz="half" idx="10"/>
          </p:nvPr>
        </p:nvSpPr>
        <p:spPr/>
        <p:txBody>
          <a:bodyPr/>
          <a:lstStyle/>
          <a:p>
            <a:fld id="{0657232D-1C8C-4481-98AE-7144E758614A}" type="datetimeFigureOut">
              <a:rPr lang="en-IN" smtClean="0"/>
              <a:t>08-11-2025</a:t>
            </a:fld>
            <a:endParaRPr lang="en-IN"/>
          </a:p>
        </p:txBody>
      </p:sp>
      <p:sp>
        <p:nvSpPr>
          <p:cNvPr id="4" name="Footer Placeholder 3">
            <a:extLst>
              <a:ext uri="{FF2B5EF4-FFF2-40B4-BE49-F238E27FC236}">
                <a16:creationId xmlns:a16="http://schemas.microsoft.com/office/drawing/2014/main" id="{7FC5036B-7A42-8F37-D82A-1EB6337C104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1DC9D8E-566E-30B1-1A9F-6472956D0E0E}"/>
              </a:ext>
            </a:extLst>
          </p:cNvPr>
          <p:cNvSpPr>
            <a:spLocks noGrp="1"/>
          </p:cNvSpPr>
          <p:nvPr>
            <p:ph type="sldNum" sz="quarter" idx="12"/>
          </p:nvPr>
        </p:nvSpPr>
        <p:spPr/>
        <p:txBody>
          <a:bodyPr/>
          <a:lstStyle/>
          <a:p>
            <a:fld id="{A0AF3ED1-FA1F-43F1-848E-7E71CCBDE6EC}" type="slidenum">
              <a:rPr lang="en-IN" smtClean="0"/>
              <a:t>‹#›</a:t>
            </a:fld>
            <a:endParaRPr lang="en-IN"/>
          </a:p>
        </p:txBody>
      </p:sp>
    </p:spTree>
    <p:extLst>
      <p:ext uri="{BB962C8B-B14F-4D97-AF65-F5344CB8AC3E}">
        <p14:creationId xmlns:p14="http://schemas.microsoft.com/office/powerpoint/2010/main" val="490537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EC5577-A562-C720-A08D-73DFC0D5BDD9}"/>
              </a:ext>
            </a:extLst>
          </p:cNvPr>
          <p:cNvSpPr>
            <a:spLocks noGrp="1"/>
          </p:cNvSpPr>
          <p:nvPr>
            <p:ph type="dt" sz="half" idx="10"/>
          </p:nvPr>
        </p:nvSpPr>
        <p:spPr/>
        <p:txBody>
          <a:bodyPr/>
          <a:lstStyle/>
          <a:p>
            <a:fld id="{0657232D-1C8C-4481-98AE-7144E758614A}" type="datetimeFigureOut">
              <a:rPr lang="en-IN" smtClean="0"/>
              <a:t>08-11-2025</a:t>
            </a:fld>
            <a:endParaRPr lang="en-IN"/>
          </a:p>
        </p:txBody>
      </p:sp>
      <p:sp>
        <p:nvSpPr>
          <p:cNvPr id="3" name="Footer Placeholder 2">
            <a:extLst>
              <a:ext uri="{FF2B5EF4-FFF2-40B4-BE49-F238E27FC236}">
                <a16:creationId xmlns:a16="http://schemas.microsoft.com/office/drawing/2014/main" id="{C229385C-20B1-9B16-6741-406543EBA3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4BC0C98-DF6B-1311-7BCC-71E46A64AEEB}"/>
              </a:ext>
            </a:extLst>
          </p:cNvPr>
          <p:cNvSpPr>
            <a:spLocks noGrp="1"/>
          </p:cNvSpPr>
          <p:nvPr>
            <p:ph type="sldNum" sz="quarter" idx="12"/>
          </p:nvPr>
        </p:nvSpPr>
        <p:spPr/>
        <p:txBody>
          <a:bodyPr/>
          <a:lstStyle/>
          <a:p>
            <a:fld id="{A0AF3ED1-FA1F-43F1-848E-7E71CCBDE6EC}" type="slidenum">
              <a:rPr lang="en-IN" smtClean="0"/>
              <a:t>‹#›</a:t>
            </a:fld>
            <a:endParaRPr lang="en-IN"/>
          </a:p>
        </p:txBody>
      </p:sp>
    </p:spTree>
    <p:extLst>
      <p:ext uri="{BB962C8B-B14F-4D97-AF65-F5344CB8AC3E}">
        <p14:creationId xmlns:p14="http://schemas.microsoft.com/office/powerpoint/2010/main" val="1912201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339CD-59AD-E2D2-8E62-292160D676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09D3926-2814-D0FA-E307-53B8E779F7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87D0D0-E68E-927D-8782-26FA3F64D2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49867D-06EA-483D-66C4-CD20B7ED9F9D}"/>
              </a:ext>
            </a:extLst>
          </p:cNvPr>
          <p:cNvSpPr>
            <a:spLocks noGrp="1"/>
          </p:cNvSpPr>
          <p:nvPr>
            <p:ph type="dt" sz="half" idx="10"/>
          </p:nvPr>
        </p:nvSpPr>
        <p:spPr/>
        <p:txBody>
          <a:bodyPr/>
          <a:lstStyle/>
          <a:p>
            <a:fld id="{0657232D-1C8C-4481-98AE-7144E758614A}" type="datetimeFigureOut">
              <a:rPr lang="en-IN" smtClean="0"/>
              <a:t>08-11-2025</a:t>
            </a:fld>
            <a:endParaRPr lang="en-IN"/>
          </a:p>
        </p:txBody>
      </p:sp>
      <p:sp>
        <p:nvSpPr>
          <p:cNvPr id="6" name="Footer Placeholder 5">
            <a:extLst>
              <a:ext uri="{FF2B5EF4-FFF2-40B4-BE49-F238E27FC236}">
                <a16:creationId xmlns:a16="http://schemas.microsoft.com/office/drawing/2014/main" id="{3711AAB9-1AA5-130E-C382-BE4F5281F5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F11D9D-9610-1B51-5C5C-75AFE1D6EFD1}"/>
              </a:ext>
            </a:extLst>
          </p:cNvPr>
          <p:cNvSpPr>
            <a:spLocks noGrp="1"/>
          </p:cNvSpPr>
          <p:nvPr>
            <p:ph type="sldNum" sz="quarter" idx="12"/>
          </p:nvPr>
        </p:nvSpPr>
        <p:spPr/>
        <p:txBody>
          <a:bodyPr/>
          <a:lstStyle/>
          <a:p>
            <a:fld id="{A0AF3ED1-FA1F-43F1-848E-7E71CCBDE6EC}" type="slidenum">
              <a:rPr lang="en-IN" smtClean="0"/>
              <a:t>‹#›</a:t>
            </a:fld>
            <a:endParaRPr lang="en-IN"/>
          </a:p>
        </p:txBody>
      </p:sp>
    </p:spTree>
    <p:extLst>
      <p:ext uri="{BB962C8B-B14F-4D97-AF65-F5344CB8AC3E}">
        <p14:creationId xmlns:p14="http://schemas.microsoft.com/office/powerpoint/2010/main" val="3808196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F92DD-AB10-A293-C185-6E7187BE58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91134A-9570-898C-0A15-1E090127EC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806B203-99E3-3AF7-2953-E926630A6D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217174-A8EE-7EB3-053F-03028D9C4B39}"/>
              </a:ext>
            </a:extLst>
          </p:cNvPr>
          <p:cNvSpPr>
            <a:spLocks noGrp="1"/>
          </p:cNvSpPr>
          <p:nvPr>
            <p:ph type="dt" sz="half" idx="10"/>
          </p:nvPr>
        </p:nvSpPr>
        <p:spPr/>
        <p:txBody>
          <a:bodyPr/>
          <a:lstStyle/>
          <a:p>
            <a:fld id="{0657232D-1C8C-4481-98AE-7144E758614A}" type="datetimeFigureOut">
              <a:rPr lang="en-IN" smtClean="0"/>
              <a:t>08-11-2025</a:t>
            </a:fld>
            <a:endParaRPr lang="en-IN"/>
          </a:p>
        </p:txBody>
      </p:sp>
      <p:sp>
        <p:nvSpPr>
          <p:cNvPr id="6" name="Footer Placeholder 5">
            <a:extLst>
              <a:ext uri="{FF2B5EF4-FFF2-40B4-BE49-F238E27FC236}">
                <a16:creationId xmlns:a16="http://schemas.microsoft.com/office/drawing/2014/main" id="{4831B7BB-DFDA-654C-54C1-9B53A95DF7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5D92F6-786F-6A97-5125-0A3BB92E407E}"/>
              </a:ext>
            </a:extLst>
          </p:cNvPr>
          <p:cNvSpPr>
            <a:spLocks noGrp="1"/>
          </p:cNvSpPr>
          <p:nvPr>
            <p:ph type="sldNum" sz="quarter" idx="12"/>
          </p:nvPr>
        </p:nvSpPr>
        <p:spPr/>
        <p:txBody>
          <a:bodyPr/>
          <a:lstStyle/>
          <a:p>
            <a:fld id="{A0AF3ED1-FA1F-43F1-848E-7E71CCBDE6EC}" type="slidenum">
              <a:rPr lang="en-IN" smtClean="0"/>
              <a:t>‹#›</a:t>
            </a:fld>
            <a:endParaRPr lang="en-IN"/>
          </a:p>
        </p:txBody>
      </p:sp>
    </p:spTree>
    <p:extLst>
      <p:ext uri="{BB962C8B-B14F-4D97-AF65-F5344CB8AC3E}">
        <p14:creationId xmlns:p14="http://schemas.microsoft.com/office/powerpoint/2010/main" val="392159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B1B2E-0B49-B8D9-D496-DF4B9EE768E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A44243-E28F-A612-111E-B223F86DA0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C92BE9-3B51-4008-CA18-01B073488CCE}"/>
              </a:ext>
            </a:extLst>
          </p:cNvPr>
          <p:cNvSpPr>
            <a:spLocks noGrp="1"/>
          </p:cNvSpPr>
          <p:nvPr>
            <p:ph type="dt" sz="half" idx="10"/>
          </p:nvPr>
        </p:nvSpPr>
        <p:spPr/>
        <p:txBody>
          <a:bodyPr/>
          <a:lstStyle/>
          <a:p>
            <a:fld id="{0657232D-1C8C-4481-98AE-7144E758614A}" type="datetimeFigureOut">
              <a:rPr lang="en-IN" smtClean="0"/>
              <a:t>08-11-2025</a:t>
            </a:fld>
            <a:endParaRPr lang="en-IN"/>
          </a:p>
        </p:txBody>
      </p:sp>
      <p:sp>
        <p:nvSpPr>
          <p:cNvPr id="5" name="Footer Placeholder 4">
            <a:extLst>
              <a:ext uri="{FF2B5EF4-FFF2-40B4-BE49-F238E27FC236}">
                <a16:creationId xmlns:a16="http://schemas.microsoft.com/office/drawing/2014/main" id="{6FC6604D-922E-A46E-9AB9-1D2F0DA626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D9A58B-E27F-E847-DCA5-E9E69D93F01B}"/>
              </a:ext>
            </a:extLst>
          </p:cNvPr>
          <p:cNvSpPr>
            <a:spLocks noGrp="1"/>
          </p:cNvSpPr>
          <p:nvPr>
            <p:ph type="sldNum" sz="quarter" idx="12"/>
          </p:nvPr>
        </p:nvSpPr>
        <p:spPr/>
        <p:txBody>
          <a:bodyPr/>
          <a:lstStyle/>
          <a:p>
            <a:fld id="{A0AF3ED1-FA1F-43F1-848E-7E71CCBDE6EC}" type="slidenum">
              <a:rPr lang="en-IN" smtClean="0"/>
              <a:t>‹#›</a:t>
            </a:fld>
            <a:endParaRPr lang="en-IN"/>
          </a:p>
        </p:txBody>
      </p:sp>
    </p:spTree>
    <p:extLst>
      <p:ext uri="{BB962C8B-B14F-4D97-AF65-F5344CB8AC3E}">
        <p14:creationId xmlns:p14="http://schemas.microsoft.com/office/powerpoint/2010/main" val="2373274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33DC24-A6A2-0F7D-A775-393EAB04602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BBAF50-7C5E-2971-7580-BEAE4CC96B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D0C29A-2EE4-7CE5-3255-84FC1B1334F6}"/>
              </a:ext>
            </a:extLst>
          </p:cNvPr>
          <p:cNvSpPr>
            <a:spLocks noGrp="1"/>
          </p:cNvSpPr>
          <p:nvPr>
            <p:ph type="dt" sz="half" idx="10"/>
          </p:nvPr>
        </p:nvSpPr>
        <p:spPr/>
        <p:txBody>
          <a:bodyPr/>
          <a:lstStyle/>
          <a:p>
            <a:fld id="{0657232D-1C8C-4481-98AE-7144E758614A}" type="datetimeFigureOut">
              <a:rPr lang="en-IN" smtClean="0"/>
              <a:t>08-11-2025</a:t>
            </a:fld>
            <a:endParaRPr lang="en-IN"/>
          </a:p>
        </p:txBody>
      </p:sp>
      <p:sp>
        <p:nvSpPr>
          <p:cNvPr id="5" name="Footer Placeholder 4">
            <a:extLst>
              <a:ext uri="{FF2B5EF4-FFF2-40B4-BE49-F238E27FC236}">
                <a16:creationId xmlns:a16="http://schemas.microsoft.com/office/drawing/2014/main" id="{8DD71C10-849D-BCC1-7962-2F8FBE347F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3C7258-C465-42DA-57D1-6865ADAD3B53}"/>
              </a:ext>
            </a:extLst>
          </p:cNvPr>
          <p:cNvSpPr>
            <a:spLocks noGrp="1"/>
          </p:cNvSpPr>
          <p:nvPr>
            <p:ph type="sldNum" sz="quarter" idx="12"/>
          </p:nvPr>
        </p:nvSpPr>
        <p:spPr/>
        <p:txBody>
          <a:bodyPr/>
          <a:lstStyle/>
          <a:p>
            <a:fld id="{A0AF3ED1-FA1F-43F1-848E-7E71CCBDE6EC}" type="slidenum">
              <a:rPr lang="en-IN" smtClean="0"/>
              <a:t>‹#›</a:t>
            </a:fld>
            <a:endParaRPr lang="en-IN"/>
          </a:p>
        </p:txBody>
      </p:sp>
    </p:spTree>
    <p:extLst>
      <p:ext uri="{BB962C8B-B14F-4D97-AF65-F5344CB8AC3E}">
        <p14:creationId xmlns:p14="http://schemas.microsoft.com/office/powerpoint/2010/main" val="3128106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BFE64A-DAFC-1F29-100F-1DDF267B98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7F08E8-F836-3E21-62F5-FB113E7937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D7A2FE-B05B-2248-17D6-ACED3DA15D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57232D-1C8C-4481-98AE-7144E758614A}" type="datetimeFigureOut">
              <a:rPr lang="en-IN" smtClean="0"/>
              <a:t>08-11-2025</a:t>
            </a:fld>
            <a:endParaRPr lang="en-IN"/>
          </a:p>
        </p:txBody>
      </p:sp>
      <p:sp>
        <p:nvSpPr>
          <p:cNvPr id="5" name="Footer Placeholder 4">
            <a:extLst>
              <a:ext uri="{FF2B5EF4-FFF2-40B4-BE49-F238E27FC236}">
                <a16:creationId xmlns:a16="http://schemas.microsoft.com/office/drawing/2014/main" id="{788E3AE2-F4F9-3845-BAC0-B2039E9C25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75B9C05-A6BF-0CC2-C31D-F59DD76FA8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AF3ED1-FA1F-43F1-848E-7E71CCBDE6EC}" type="slidenum">
              <a:rPr lang="en-IN" smtClean="0"/>
              <a:t>‹#›</a:t>
            </a:fld>
            <a:endParaRPr lang="en-IN"/>
          </a:p>
        </p:txBody>
      </p:sp>
    </p:spTree>
    <p:extLst>
      <p:ext uri="{BB962C8B-B14F-4D97-AF65-F5344CB8AC3E}">
        <p14:creationId xmlns:p14="http://schemas.microsoft.com/office/powerpoint/2010/main" val="3658868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robu.in/mq-series-gas-sensor/"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9EFF7E5-738E-F80A-14E6-C4CB2F659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136" y="254698"/>
            <a:ext cx="10777728" cy="1345502"/>
          </a:xfrm>
          <a:prstGeom prst="rect">
            <a:avLst/>
          </a:prstGeom>
        </p:spPr>
      </p:pic>
      <p:sp>
        <p:nvSpPr>
          <p:cNvPr id="6" name="TextBox 5">
            <a:extLst>
              <a:ext uri="{FF2B5EF4-FFF2-40B4-BE49-F238E27FC236}">
                <a16:creationId xmlns:a16="http://schemas.microsoft.com/office/drawing/2014/main" id="{C01FA24F-1E7D-251B-D822-9D0D9F436771}"/>
              </a:ext>
            </a:extLst>
          </p:cNvPr>
          <p:cNvSpPr txBox="1"/>
          <p:nvPr/>
        </p:nvSpPr>
        <p:spPr>
          <a:xfrm>
            <a:off x="1864746" y="2121463"/>
            <a:ext cx="8462509" cy="1307537"/>
          </a:xfrm>
          <a:prstGeom prst="rect">
            <a:avLst/>
          </a:prstGeom>
          <a:noFill/>
        </p:spPr>
        <p:txBody>
          <a:bodyPr wrap="none" rtlCol="0">
            <a:spAutoFit/>
          </a:bodyPr>
          <a:lstStyle/>
          <a:p>
            <a:pPr algn="ctr">
              <a:lnSpc>
                <a:spcPct val="150000"/>
              </a:lnSpc>
            </a:pPr>
            <a:r>
              <a:rPr lang="en-US" sz="2800" b="1" dirty="0">
                <a:latin typeface="Times New Roman" panose="02020603050405020304" pitchFamily="18" charset="0"/>
                <a:cs typeface="Times New Roman" panose="02020603050405020304" pitchFamily="18" charset="0"/>
              </a:rPr>
              <a:t>AI-POWERED MOBILE ROBOT FOR GAS LEAK</a:t>
            </a:r>
          </a:p>
          <a:p>
            <a:pPr algn="ctr">
              <a:lnSpc>
                <a:spcPct val="150000"/>
              </a:lnSpc>
            </a:pPr>
            <a:r>
              <a:rPr lang="en-US" sz="2800" b="1" dirty="0">
                <a:latin typeface="Times New Roman" panose="02020603050405020304" pitchFamily="18" charset="0"/>
                <a:cs typeface="Times New Roman" panose="02020603050405020304" pitchFamily="18" charset="0"/>
              </a:rPr>
              <a:t>DETECTION AND SAFETY CONTROL </a:t>
            </a:r>
          </a:p>
        </p:txBody>
      </p:sp>
      <p:sp>
        <p:nvSpPr>
          <p:cNvPr id="7" name="TextBox 6">
            <a:extLst>
              <a:ext uri="{FF2B5EF4-FFF2-40B4-BE49-F238E27FC236}">
                <a16:creationId xmlns:a16="http://schemas.microsoft.com/office/drawing/2014/main" id="{8BDA038B-3450-0377-6B8C-087F3313EAFF}"/>
              </a:ext>
            </a:extLst>
          </p:cNvPr>
          <p:cNvSpPr txBox="1"/>
          <p:nvPr/>
        </p:nvSpPr>
        <p:spPr>
          <a:xfrm>
            <a:off x="1024128" y="4197096"/>
            <a:ext cx="4812343" cy="1843069"/>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BATCH MEMBERS:</a:t>
            </a:r>
          </a:p>
          <a:p>
            <a:endParaRPr lang="en-US" b="1"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727722EUEC078 - KAVIN INIYAVAN S </a:t>
            </a:r>
          </a:p>
          <a:p>
            <a:pPr>
              <a:lnSpc>
                <a:spcPct val="150000"/>
              </a:lnSpc>
            </a:pPr>
            <a:r>
              <a:rPr lang="en-US" dirty="0">
                <a:latin typeface="Times New Roman" panose="02020603050405020304" pitchFamily="18" charset="0"/>
                <a:cs typeface="Times New Roman" panose="02020603050405020304" pitchFamily="18" charset="0"/>
              </a:rPr>
              <a:t>727722EUEC093 - LOGENDRA PRASANNA T </a:t>
            </a:r>
          </a:p>
          <a:p>
            <a:pPr>
              <a:lnSpc>
                <a:spcPct val="150000"/>
              </a:lnSpc>
            </a:pPr>
            <a:r>
              <a:rPr lang="en-US" dirty="0">
                <a:latin typeface="Times New Roman" panose="02020603050405020304" pitchFamily="18" charset="0"/>
                <a:cs typeface="Times New Roman" panose="02020603050405020304" pitchFamily="18" charset="0"/>
              </a:rPr>
              <a:t>727722EUEC127 - PRAGNESH S </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33ADA20-89C7-9284-8F78-29D309AE0737}"/>
              </a:ext>
            </a:extLst>
          </p:cNvPr>
          <p:cNvSpPr txBox="1"/>
          <p:nvPr/>
        </p:nvSpPr>
        <p:spPr>
          <a:xfrm>
            <a:off x="7876173" y="4195300"/>
            <a:ext cx="3477106" cy="1200329"/>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SUPERVISOR:</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Dr. DINESH KUMAR J R</a:t>
            </a:r>
          </a:p>
          <a:p>
            <a:r>
              <a:rPr lang="en-US" dirty="0">
                <a:latin typeface="Times New Roman" panose="02020603050405020304" pitchFamily="18" charset="0"/>
                <a:cs typeface="Times New Roman" panose="02020603050405020304" pitchFamily="18" charset="0"/>
              </a:rPr>
              <a:t>ASSISTANT PROFESSOR / ECE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4547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B6341F9-F54D-190D-8E88-65A5FC4C2157}"/>
              </a:ext>
            </a:extLst>
          </p:cNvPr>
          <p:cNvSpPr txBox="1"/>
          <p:nvPr/>
        </p:nvSpPr>
        <p:spPr>
          <a:xfrm>
            <a:off x="4184431" y="537322"/>
            <a:ext cx="2579553"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CONTENTS:</a:t>
            </a:r>
            <a:endParaRPr lang="en-IN"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16E2B19-C6E7-1CAA-B5FD-96A5E32AE4C8}"/>
              </a:ext>
            </a:extLst>
          </p:cNvPr>
          <p:cNvSpPr txBox="1"/>
          <p:nvPr/>
        </p:nvSpPr>
        <p:spPr>
          <a:xfrm>
            <a:off x="1600200" y="1280800"/>
            <a:ext cx="4389120" cy="4307398"/>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INTRODUCTION                                                               </a:t>
            </a:r>
          </a:p>
          <a:p>
            <a:pPr marL="342900" indent="-34290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ABSTRACT</a:t>
            </a:r>
          </a:p>
          <a:p>
            <a:pPr marL="342900" indent="-34290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DOMAIN</a:t>
            </a:r>
          </a:p>
          <a:p>
            <a:pPr marL="342900" indent="-34290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OBJECTIVE</a:t>
            </a:r>
          </a:p>
          <a:p>
            <a:pPr marL="342900" indent="-34290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NOVELTY OF THE PROJECT</a:t>
            </a:r>
          </a:p>
          <a:p>
            <a:pPr marL="342900" indent="-34290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LITERATURE REVIEW</a:t>
            </a:r>
          </a:p>
          <a:p>
            <a:pPr marL="342900" indent="-34290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EXISTING METHODOLOGY</a:t>
            </a:r>
          </a:p>
        </p:txBody>
      </p:sp>
      <p:sp>
        <p:nvSpPr>
          <p:cNvPr id="2" name="TextBox 1">
            <a:extLst>
              <a:ext uri="{FF2B5EF4-FFF2-40B4-BE49-F238E27FC236}">
                <a16:creationId xmlns:a16="http://schemas.microsoft.com/office/drawing/2014/main" id="{91D82844-BC3A-C5DA-B8C8-10EC51915B6C}"/>
              </a:ext>
            </a:extLst>
          </p:cNvPr>
          <p:cNvSpPr txBox="1"/>
          <p:nvPr/>
        </p:nvSpPr>
        <p:spPr>
          <a:xfrm>
            <a:off x="6473840" y="1274838"/>
            <a:ext cx="5093208" cy="4313360"/>
          </a:xfrm>
          <a:prstGeom prst="rect">
            <a:avLst/>
          </a:prstGeom>
          <a:noFill/>
        </p:spPr>
        <p:txBody>
          <a:bodyPr wrap="square" rtlCol="0">
            <a:spAutoFit/>
          </a:bodyPr>
          <a:lstStyle/>
          <a:p>
            <a:pPr marL="342900" indent="-34290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BLOCK DIAGRAM </a:t>
            </a:r>
          </a:p>
          <a:p>
            <a:pPr marL="342900" indent="-34290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FLOW CHART </a:t>
            </a:r>
          </a:p>
          <a:p>
            <a:pPr marL="342900" indent="-34290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HARDWARE  REQUIRED</a:t>
            </a:r>
          </a:p>
          <a:p>
            <a:pPr marL="342900" indent="-34290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SOFTWARE REQUIRED</a:t>
            </a:r>
          </a:p>
          <a:p>
            <a:pPr marL="342900" indent="-34290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SCHEMATIC DIAGRAM</a:t>
            </a:r>
          </a:p>
          <a:p>
            <a:pPr marL="342900" indent="-34290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SUMMARY</a:t>
            </a:r>
          </a:p>
          <a:p>
            <a:pPr marL="342900" indent="-34290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REFERENCES</a:t>
            </a:r>
            <a:endParaRPr lang="en-IN" sz="2000" dirty="0"/>
          </a:p>
        </p:txBody>
      </p:sp>
    </p:spTree>
    <p:extLst>
      <p:ext uri="{BB962C8B-B14F-4D97-AF65-F5344CB8AC3E}">
        <p14:creationId xmlns:p14="http://schemas.microsoft.com/office/powerpoint/2010/main" val="3099042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DDBFF27-129B-653E-09E3-50F8D1B2D780}"/>
              </a:ext>
            </a:extLst>
          </p:cNvPr>
          <p:cNvSpPr txBox="1"/>
          <p:nvPr/>
        </p:nvSpPr>
        <p:spPr>
          <a:xfrm>
            <a:off x="704088" y="347472"/>
            <a:ext cx="3639138" cy="523220"/>
          </a:xfrm>
          <a:prstGeom prst="rect">
            <a:avLst/>
          </a:prstGeom>
          <a:noFill/>
        </p:spPr>
        <p:txBody>
          <a:bodyPr wrap="none" rtlCol="0">
            <a:spAutoFit/>
          </a:bodyPr>
          <a:lstStyle/>
          <a:p>
            <a:pPr marL="45720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INTRODUCTION:</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ABC5F4A-9856-3276-9103-219960D81124}"/>
              </a:ext>
            </a:extLst>
          </p:cNvPr>
          <p:cNvSpPr txBox="1"/>
          <p:nvPr/>
        </p:nvSpPr>
        <p:spPr>
          <a:xfrm>
            <a:off x="1213203" y="1285666"/>
            <a:ext cx="10479024" cy="4613058"/>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In industrial environments where LPG (liquefied petroleum gas) is stored and used, safety is a critical concern due to the high risk of gas leakage and potential explosions. To address this challenge, this project proposes the development of an autonomous gas-sensing rover designed to patrol along a fixed path within an industrial storage area. The rover continuously moves back and forth, scanning the environment for any signs of gas leakage near gas cylinders. Upon detecting a leak, it triggers multiple safety mechanisms simultaneously.</a:t>
            </a:r>
          </a:p>
          <a:p>
            <a:pPr>
              <a:lnSpc>
                <a:spcPct val="150000"/>
              </a:lnSpc>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It sends a wireless signal to immediately shut off the power supply to the storage room.</a:t>
            </a: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Activates an alarm system to alert nearby personnel, </a:t>
            </a: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Sends a notification to the maintainer’s smartphone to ensure remote awareness.</a:t>
            </a: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By integrating gas detection with real-time alert systems and automation, this project aims to enhance safety measures in hazardous industrial zones.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998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5E43B87-6667-67EF-A908-D48980859F31}"/>
              </a:ext>
            </a:extLst>
          </p:cNvPr>
          <p:cNvSpPr txBox="1"/>
          <p:nvPr/>
        </p:nvSpPr>
        <p:spPr>
          <a:xfrm>
            <a:off x="822960" y="427756"/>
            <a:ext cx="2785314" cy="523220"/>
          </a:xfrm>
          <a:prstGeom prst="rect">
            <a:avLst/>
          </a:prstGeom>
          <a:noFill/>
        </p:spPr>
        <p:txBody>
          <a:bodyPr wrap="none" rtlCol="0">
            <a:spAutoFit/>
          </a:bodyPr>
          <a:lstStyle/>
          <a:p>
            <a:pPr marL="45720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ABSTRACT: </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D2605E5-7571-43A2-1BDC-D6D9ED2F1789}"/>
              </a:ext>
            </a:extLst>
          </p:cNvPr>
          <p:cNvSpPr txBox="1"/>
          <p:nvPr/>
        </p:nvSpPr>
        <p:spPr>
          <a:xfrm>
            <a:off x="902208" y="1004478"/>
            <a:ext cx="10387584" cy="544405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In industrial environments where liquefied petroleum gas (LPG) cylinders are stored, even minor leakages can lead to catastrophic explosions, especially when exposed to electrical sparks. To address this safety concern, we propose an autonomous gas-sensing rover system powered </a:t>
            </a:r>
            <a:r>
              <a:rPr lang="en-US">
                <a:latin typeface="Times New Roman" panose="02020603050405020304" pitchFamily="18" charset="0"/>
                <a:cs typeface="Times New Roman" panose="02020603050405020304" pitchFamily="18" charset="0"/>
              </a:rPr>
              <a:t>by the ESP8266 </a:t>
            </a:r>
            <a:r>
              <a:rPr lang="en-US" dirty="0">
                <a:latin typeface="Times New Roman" panose="02020603050405020304" pitchFamily="18" charset="0"/>
                <a:cs typeface="Times New Roman" panose="02020603050405020304" pitchFamily="18" charset="0"/>
              </a:rPr>
              <a:t>microcontroller. </a:t>
            </a:r>
          </a:p>
          <a:p>
            <a:pPr marL="285750" indent="-285750" algn="just">
              <a:lnSpc>
                <a:spcPct val="150000"/>
              </a:lnSpc>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rover patrols a predefined linear path back and forth, continuously monitoring for LPG gas leakage near storage cylinders. It is equipped with gas sensors, an obstacle avoidance module with line following, and wireless communication capabilities.</a:t>
            </a:r>
          </a:p>
          <a:p>
            <a:pPr marL="285750" indent="-285750" algn="just">
              <a:lnSpc>
                <a:spcPct val="150000"/>
              </a:lnSpc>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Upon detection of a gas leak, the system performs critical safety actions in real-time. It triggers an alarm in the storage room, cuts off the power supply to eliminate any ignition sources, and sends an immediate notification to the user’s smartphone via Wi-Fi or Bluetooth. This smart gas-sensing rover enhances industrial safety by automating real-time leak detection and mitigation, minimizing human risk, and ensuring rapid emergency response.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513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12BA60-3541-86DF-A7E7-94597C2F1D8F}"/>
              </a:ext>
            </a:extLst>
          </p:cNvPr>
          <p:cNvSpPr txBox="1"/>
          <p:nvPr/>
        </p:nvSpPr>
        <p:spPr>
          <a:xfrm>
            <a:off x="804672" y="457200"/>
            <a:ext cx="2302233" cy="523220"/>
          </a:xfrm>
          <a:prstGeom prst="rect">
            <a:avLst/>
          </a:prstGeom>
          <a:noFill/>
        </p:spPr>
        <p:txBody>
          <a:bodyPr wrap="none" rtlCol="0">
            <a:spAutoFit/>
          </a:bodyPr>
          <a:lstStyle/>
          <a:p>
            <a:pPr marL="45720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DOMAIN:</a:t>
            </a:r>
            <a:endParaRPr lang="en-IN" sz="28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A5D3BE8-2162-C1C8-0C4C-E57B717AE92C}"/>
              </a:ext>
            </a:extLst>
          </p:cNvPr>
          <p:cNvSpPr txBox="1"/>
          <p:nvPr/>
        </p:nvSpPr>
        <p:spPr>
          <a:xfrm>
            <a:off x="3280641" y="457200"/>
            <a:ext cx="3135795" cy="523220"/>
          </a:xfrm>
          <a:prstGeom prst="rect">
            <a:avLst/>
          </a:prstGeom>
          <a:noFill/>
        </p:spPr>
        <p:txBody>
          <a:bodyPr wrap="none" rtlCol="0">
            <a:spAutoFit/>
          </a:bodyPr>
          <a:lstStyle/>
          <a:p>
            <a:r>
              <a:rPr lang="en-US" sz="2800" dirty="0">
                <a:latin typeface="Times New Roman" panose="02020603050405020304" pitchFamily="18" charset="0"/>
                <a:cs typeface="Times New Roman" panose="02020603050405020304" pitchFamily="18" charset="0"/>
              </a:rPr>
              <a:t>Embedded with IOT</a:t>
            </a:r>
            <a:endParaRPr lang="en-IN" sz="2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B0598D0-BEC4-E8F6-F1E3-839A38CCF3E6}"/>
              </a:ext>
            </a:extLst>
          </p:cNvPr>
          <p:cNvSpPr txBox="1"/>
          <p:nvPr/>
        </p:nvSpPr>
        <p:spPr>
          <a:xfrm>
            <a:off x="804672" y="1252728"/>
            <a:ext cx="2839239" cy="523220"/>
          </a:xfrm>
          <a:prstGeom prst="rect">
            <a:avLst/>
          </a:prstGeom>
          <a:noFill/>
        </p:spPr>
        <p:txBody>
          <a:bodyPr wrap="none" rtlCol="0">
            <a:spAutoFit/>
          </a:bodyPr>
          <a:lstStyle/>
          <a:p>
            <a:pPr marL="45720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OBJECTIVE:</a:t>
            </a:r>
            <a:endParaRPr lang="en-IN" sz="2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6D4F5C5-BF83-AA1A-617C-7E53BBD51CC6}"/>
              </a:ext>
            </a:extLst>
          </p:cNvPr>
          <p:cNvSpPr txBox="1"/>
          <p:nvPr/>
        </p:nvSpPr>
        <p:spPr>
          <a:xfrm>
            <a:off x="1346850" y="1787742"/>
            <a:ext cx="10139172" cy="461305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To design and develop an autonomous gas (LPG) sensing rover capable of patrolling a fixed linear path in an industrial environment to monitor for gas leaks.</a:t>
            </a:r>
          </a:p>
          <a:p>
            <a:pPr marL="285750" indent="-285750" algn="just">
              <a:lnSpc>
                <a:spcPct val="150000"/>
              </a:lnSpc>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To detect a leakage, the rover should immediately trigger safety protocols including shutting off the power supply to a miniature gas cylinder storage room, activating an alarm system to alert nearby personnel, and sending a real-time notification to the responsible user or maintainer to enable prompt action and prevent potential hazards such as fire or explosions.</a:t>
            </a:r>
          </a:p>
          <a:p>
            <a:pPr marL="285750" indent="-285750" algn="just">
              <a:lnSpc>
                <a:spcPct val="150000"/>
              </a:lnSpc>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To enhance industrial safety through continuous, automated surveillance of LPG storage areas. It minimizes human risk by enabling early detection and rapid response to gas leaks using integrated sensors and communication systems.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3502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98C6BEF-A870-0AAA-FEEF-91117E94B093}"/>
              </a:ext>
            </a:extLst>
          </p:cNvPr>
          <p:cNvSpPr txBox="1"/>
          <p:nvPr/>
        </p:nvSpPr>
        <p:spPr>
          <a:xfrm>
            <a:off x="676707" y="301752"/>
            <a:ext cx="5647893" cy="523220"/>
          </a:xfrm>
          <a:prstGeom prst="rect">
            <a:avLst/>
          </a:prstGeom>
          <a:noFill/>
        </p:spPr>
        <p:txBody>
          <a:bodyPr wrap="none" rtlCol="0">
            <a:spAutoFit/>
          </a:bodyPr>
          <a:lstStyle/>
          <a:p>
            <a:pPr marL="45720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NOVELTY OF THE PROJECT:</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0C2F4E4-658F-2520-A0D5-2F6778730321}"/>
              </a:ext>
            </a:extLst>
          </p:cNvPr>
          <p:cNvSpPr txBox="1"/>
          <p:nvPr/>
        </p:nvSpPr>
        <p:spPr>
          <a:xfrm>
            <a:off x="777239" y="824972"/>
            <a:ext cx="10820349" cy="544405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integration of a mobile gas sensing system with real-time automated safety responses, unlike conventional fixed gas detectors. The rover’s ability to patrol along a defined path allows dynamic area coverage, enabling early detection in multiple zones, and its automatic triggering of power shutdown, alarms, and user notifications enhances safety without requiring manual intervention.</a:t>
            </a:r>
          </a:p>
          <a:p>
            <a:pPr marL="285750" indent="-285750" algn="just">
              <a:lnSpc>
                <a:spcPct val="150000"/>
              </a:lnSpc>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Unlike traditional static monitoring systems, this rover adds mobility to improve gas leak detection coverage in industrial setups. The combination of autonomous movement, immediate safety actions, and user alerts makes it a cost-effective and scalable solution for hazardous environments.</a:t>
            </a:r>
          </a:p>
          <a:p>
            <a:pPr marL="285750" indent="-285750" algn="just">
              <a:lnSpc>
                <a:spcPct val="150000"/>
              </a:lnSpc>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This project uniquely combines mobility, sensing, and automation in a compact patrol robot for hazardous industrial zones. Unlike static detectors, it can cover more area and revisit locations, ensuring consistent safety checks. The immediate multi-response system—power cutoff, alarm, and mobile alert—minimizes reaction time. Its design is scalable for various industrial applications, making it a versatile safety solution.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8069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13E141A-A822-F20E-50DE-576375487B38}"/>
              </a:ext>
            </a:extLst>
          </p:cNvPr>
          <p:cNvSpPr txBox="1"/>
          <p:nvPr/>
        </p:nvSpPr>
        <p:spPr>
          <a:xfrm>
            <a:off x="3639214" y="0"/>
            <a:ext cx="4142096" cy="523220"/>
          </a:xfrm>
          <a:prstGeom prst="rect">
            <a:avLst/>
          </a:prstGeom>
          <a:noFill/>
        </p:spPr>
        <p:txBody>
          <a:bodyPr wrap="none" rtlCol="0">
            <a:spAutoFit/>
          </a:bodyPr>
          <a:lstStyle/>
          <a:p>
            <a:pPr marL="457200" indent="-4572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LITERATURE REVIEW</a:t>
            </a:r>
            <a:r>
              <a:rPr lang="en-US" sz="2800" b="1" dirty="0">
                <a:latin typeface="Times New Roman" panose="02020603050405020304" pitchFamily="18" charset="0"/>
                <a:cs typeface="Times New Roman" panose="02020603050405020304" pitchFamily="18" charset="0"/>
              </a:rPr>
              <a:t>:</a:t>
            </a:r>
            <a:endParaRPr lang="en-IN" sz="2800" b="1"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BA6758A5-347F-3297-3967-3071D582A541}"/>
              </a:ext>
            </a:extLst>
          </p:cNvPr>
          <p:cNvGraphicFramePr>
            <a:graphicFrameLocks noGrp="1"/>
          </p:cNvGraphicFramePr>
          <p:nvPr>
            <p:extLst>
              <p:ext uri="{D42A27DB-BD31-4B8C-83A1-F6EECF244321}">
                <p14:modId xmlns:p14="http://schemas.microsoft.com/office/powerpoint/2010/main" val="3301890552"/>
              </p:ext>
            </p:extLst>
          </p:nvPr>
        </p:nvGraphicFramePr>
        <p:xfrm>
          <a:off x="160216" y="510485"/>
          <a:ext cx="11884300" cy="6202509"/>
        </p:xfrm>
        <a:graphic>
          <a:graphicData uri="http://schemas.openxmlformats.org/drawingml/2006/table">
            <a:tbl>
              <a:tblPr firstRow="1" bandRow="1">
                <a:tableStyleId>{5940675A-B579-460E-94D1-54222C63F5DA}</a:tableStyleId>
              </a:tblPr>
              <a:tblGrid>
                <a:gridCol w="723476">
                  <a:extLst>
                    <a:ext uri="{9D8B030D-6E8A-4147-A177-3AD203B41FA5}">
                      <a16:colId xmlns:a16="http://schemas.microsoft.com/office/drawing/2014/main" val="2860515421"/>
                    </a:ext>
                  </a:extLst>
                </a:gridCol>
                <a:gridCol w="2390450">
                  <a:extLst>
                    <a:ext uri="{9D8B030D-6E8A-4147-A177-3AD203B41FA5}">
                      <a16:colId xmlns:a16="http://schemas.microsoft.com/office/drawing/2014/main" val="1123681403"/>
                    </a:ext>
                  </a:extLst>
                </a:gridCol>
                <a:gridCol w="2743200">
                  <a:extLst>
                    <a:ext uri="{9D8B030D-6E8A-4147-A177-3AD203B41FA5}">
                      <a16:colId xmlns:a16="http://schemas.microsoft.com/office/drawing/2014/main" val="1540976806"/>
                    </a:ext>
                  </a:extLst>
                </a:gridCol>
                <a:gridCol w="6027174">
                  <a:extLst>
                    <a:ext uri="{9D8B030D-6E8A-4147-A177-3AD203B41FA5}">
                      <a16:colId xmlns:a16="http://schemas.microsoft.com/office/drawing/2014/main" val="2723216726"/>
                    </a:ext>
                  </a:extLst>
                </a:gridCol>
              </a:tblGrid>
              <a:tr h="677128">
                <a:tc>
                  <a:txBody>
                    <a:bodyPr/>
                    <a:lstStyle/>
                    <a:p>
                      <a:r>
                        <a:rPr lang="en-US" dirty="0"/>
                        <a:t> </a:t>
                      </a:r>
                    </a:p>
                    <a:p>
                      <a:r>
                        <a:rPr lang="en-US" dirty="0">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US" dirty="0"/>
                    </a:p>
                    <a:p>
                      <a:pPr algn="ctr"/>
                      <a:r>
                        <a:rPr lang="en-US" dirty="0">
                          <a:latin typeface="Times New Roman" panose="02020603050405020304" pitchFamily="18" charset="0"/>
                          <a:cs typeface="Times New Roman" panose="02020603050405020304" pitchFamily="18" charset="0"/>
                        </a:rPr>
                        <a:t>AUTHOR AND YEAR</a:t>
                      </a: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TITLE OF THE PAPER</a:t>
                      </a: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US" dirty="0"/>
                    </a:p>
                    <a:p>
                      <a:pPr algn="ctr"/>
                      <a:r>
                        <a:rPr lang="en-US" dirty="0">
                          <a:latin typeface="Times New Roman" panose="02020603050405020304" pitchFamily="18" charset="0"/>
                          <a:cs typeface="Times New Roman" panose="02020603050405020304" pitchFamily="18" charset="0"/>
                        </a:rPr>
                        <a:t>OBSERVATION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23314363"/>
                  </a:ext>
                </a:extLst>
              </a:tr>
              <a:tr h="1776341">
                <a:tc>
                  <a:txBody>
                    <a:bodyPr/>
                    <a:lstStyle/>
                    <a:p>
                      <a:r>
                        <a:rPr lang="en-US" dirty="0"/>
                        <a:t>   </a:t>
                      </a:r>
                    </a:p>
                    <a:p>
                      <a:endParaRPr lang="en-US" dirty="0"/>
                    </a:p>
                    <a:p>
                      <a:r>
                        <a:rPr lang="en-US" dirty="0"/>
                        <a:t>    1</a:t>
                      </a:r>
                      <a:endParaRPr lang="en-IN" dirty="0"/>
                    </a:p>
                  </a:txBody>
                  <a:tcPr/>
                </a:tc>
                <a:tc>
                  <a:txBody>
                    <a:bodyPr/>
                    <a:lstStyle/>
                    <a:p>
                      <a:endParaRPr lang="da-DK" dirty="0"/>
                    </a:p>
                    <a:p>
                      <a:endParaRPr lang="da-DK" dirty="0"/>
                    </a:p>
                    <a:p>
                      <a:r>
                        <a:rPr lang="da-DK" dirty="0">
                          <a:latin typeface="Times New Roman" panose="02020603050405020304" pitchFamily="18" charset="0"/>
                          <a:cs typeface="Times New Roman" panose="02020603050405020304" pitchFamily="18" charset="0"/>
                        </a:rPr>
                        <a:t>   Bala Brahmeswara</a:t>
                      </a:r>
                    </a:p>
                    <a:p>
                      <a:r>
                        <a:rPr lang="da-DK" dirty="0">
                          <a:latin typeface="Times New Roman" panose="02020603050405020304" pitchFamily="18" charset="0"/>
                          <a:cs typeface="Times New Roman" panose="02020603050405020304" pitchFamily="18" charset="0"/>
                        </a:rPr>
                        <a:t>       kadaru (2024)</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IOT Based Gas Leakage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Detection [IEEE 2024]</a:t>
                      </a:r>
                    </a:p>
                    <a:p>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Wingdings" panose="05000000000000000000" pitchFamily="2" charset="2"/>
                        <a:buChar cha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The system integrates gas leakage detection, container weight monitoring, and an automated booking system to comprehensively address gas safety and management.</a:t>
                      </a:r>
                    </a:p>
                    <a:p>
                      <a:pPr marL="285750" indent="-285750" algn="just">
                        <a:buFont typeface="Wingdings" panose="05000000000000000000" pitchFamily="2" charset="2"/>
                        <a:buChar cha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Leveraging real-time data analysis via the Thing Speak cloud platform, the system ensures swift responses to gas leaks by triggering alarms and automates the refill process.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22724735"/>
                  </a:ext>
                </a:extLst>
              </a:tr>
              <a:tr h="1824815">
                <a:tc>
                  <a:txBody>
                    <a:bodyPr/>
                    <a:lstStyle/>
                    <a:p>
                      <a:endParaRPr lang="en-US" dirty="0"/>
                    </a:p>
                    <a:p>
                      <a:r>
                        <a:rPr lang="en-US" dirty="0"/>
                        <a:t>    </a:t>
                      </a:r>
                    </a:p>
                    <a:p>
                      <a:r>
                        <a:rPr lang="en-US" dirty="0"/>
                        <a:t>    2</a:t>
                      </a:r>
                      <a:endParaRPr lang="en-IN" dirty="0"/>
                    </a:p>
                  </a:txBody>
                  <a:tcPr/>
                </a:tc>
                <a:tc>
                  <a:txBody>
                    <a:bodyPr/>
                    <a:lstStyle/>
                    <a:p>
                      <a:endParaRPr lang="en-US" dirty="0"/>
                    </a:p>
                    <a:p>
                      <a:r>
                        <a:rPr lang="en-IN" dirty="0"/>
                        <a:t>  </a:t>
                      </a:r>
                      <a:r>
                        <a:rPr lang="en-IN" dirty="0" err="1">
                          <a:latin typeface="Times New Roman" panose="02020603050405020304" pitchFamily="18" charset="0"/>
                          <a:cs typeface="Times New Roman" panose="02020603050405020304" pitchFamily="18" charset="0"/>
                        </a:rPr>
                        <a:t>Pragatheeswari</a:t>
                      </a:r>
                      <a:r>
                        <a:rPr lang="en-IN" dirty="0">
                          <a:latin typeface="Times New Roman" panose="02020603050405020304" pitchFamily="18" charset="0"/>
                          <a:cs typeface="Times New Roman" panose="02020603050405020304" pitchFamily="18" charset="0"/>
                        </a:rPr>
                        <a:t> E,</a:t>
                      </a:r>
                    </a:p>
                    <a:p>
                      <a:r>
                        <a:rPr lang="en-IN" dirty="0">
                          <a:latin typeface="Times New Roman" panose="02020603050405020304" pitchFamily="18" charset="0"/>
                          <a:cs typeface="Times New Roman" panose="02020603050405020304" pitchFamily="18" charset="0"/>
                        </a:rPr>
                        <a:t>    Vishnu Priya V      </a:t>
                      </a:r>
                    </a:p>
                    <a:p>
                      <a:r>
                        <a:rPr lang="en-IN" dirty="0">
                          <a:latin typeface="Times New Roman" panose="02020603050405020304" pitchFamily="18" charset="0"/>
                          <a:cs typeface="Times New Roman" panose="02020603050405020304" pitchFamily="18" charset="0"/>
                        </a:rPr>
                        <a:t>          (2024)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IoT Integrated Smart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Rover System for Disaster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Relief Management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[IEEE 2024]</a:t>
                      </a:r>
                    </a:p>
                    <a:p>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Wingdings" panose="05000000000000000000" pitchFamily="2" charset="2"/>
                        <a:buChar cha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The primary objective is to develop a rover capable of remote operation via live video transmission, regardless of location. </a:t>
                      </a:r>
                    </a:p>
                    <a:p>
                      <a:pPr marL="285750" indent="-285750" algn="just">
                        <a:buFont typeface="Wingdings" panose="05000000000000000000" pitchFamily="2" charset="2"/>
                        <a:buChar cha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The proposed approach implemented with a plethora of sensors, the rover will provide continuous monitoring of crucial environmental factors such as temperature, humidity,  among other variables.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74857938"/>
                  </a:ext>
                </a:extLst>
              </a:tr>
              <a:tr h="1647027">
                <a:tc>
                  <a:txBody>
                    <a:bodyPr/>
                    <a:lstStyle/>
                    <a:p>
                      <a:endParaRPr lang="en-US" dirty="0"/>
                    </a:p>
                    <a:p>
                      <a:endParaRPr lang="en-US" dirty="0"/>
                    </a:p>
                    <a:p>
                      <a:r>
                        <a:rPr lang="en-US" dirty="0"/>
                        <a:t>    3</a:t>
                      </a:r>
                      <a:endParaRPr lang="en-IN" dirty="0"/>
                    </a:p>
                  </a:txBody>
                  <a:tcPr/>
                </a:tc>
                <a:tc>
                  <a:txBody>
                    <a:bodyPr/>
                    <a:lstStyle/>
                    <a:p>
                      <a:endParaRPr lang="en-US" dirty="0"/>
                    </a:p>
                    <a:p>
                      <a:r>
                        <a:rPr lang="pt-BR" dirty="0">
                          <a:latin typeface="Times New Roman" panose="02020603050405020304" pitchFamily="18" charset="0"/>
                          <a:cs typeface="Times New Roman" panose="02020603050405020304" pitchFamily="18" charset="0"/>
                        </a:rPr>
                        <a:t>Shibani Bhattacharjee, </a:t>
                      </a:r>
                    </a:p>
                    <a:p>
                      <a:r>
                        <a:rPr lang="pt-BR" dirty="0">
                          <a:latin typeface="Times New Roman" panose="02020603050405020304" pitchFamily="18" charset="0"/>
                          <a:cs typeface="Times New Roman" panose="02020603050405020304" pitchFamily="18" charset="0"/>
                        </a:rPr>
                        <a:t>            (2024)</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  Real time gas leak    </a:t>
                      </a:r>
                    </a:p>
                    <a:p>
                      <a:r>
                        <a:rPr lang="en-US" dirty="0">
                          <a:latin typeface="Times New Roman" panose="02020603050405020304" pitchFamily="18" charset="0"/>
                          <a:cs typeface="Times New Roman" panose="02020603050405020304" pitchFamily="18" charset="0"/>
                        </a:rPr>
                        <a:t> detection with IOT: Agate  </a:t>
                      </a:r>
                    </a:p>
                    <a:p>
                      <a:r>
                        <a:rPr lang="en-US" dirty="0">
                          <a:latin typeface="Times New Roman" panose="02020603050405020304" pitchFamily="18" charset="0"/>
                          <a:cs typeface="Times New Roman" panose="02020603050405020304" pitchFamily="18" charset="0"/>
                        </a:rPr>
                        <a:t> way to safer and smarter </a:t>
                      </a:r>
                    </a:p>
                    <a:p>
                      <a:r>
                        <a:rPr lang="en-US" dirty="0">
                          <a:latin typeface="Times New Roman" panose="02020603050405020304" pitchFamily="18" charset="0"/>
                          <a:cs typeface="Times New Roman" panose="02020603050405020304" pitchFamily="18" charset="0"/>
                        </a:rPr>
                        <a:t>     homes [IEEE 2024]</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Wingdings" panose="05000000000000000000" pitchFamily="2" charset="2"/>
                        <a:buChar cha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This IoT-based automatic gas leakage sensor is designed to enhance safety in buildings and apartments. </a:t>
                      </a:r>
                    </a:p>
                    <a:p>
                      <a:pPr marL="285750" indent="-285750">
                        <a:buFont typeface="Wingdings" panose="05000000000000000000" pitchFamily="2" charset="2"/>
                        <a:buChar cha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The system detects the presence of flammable gases such as methane, butane, and LPG. Upon detection, the sensor immediately activates a loud beep sound to alert occupants of the danger.</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84226800"/>
                  </a:ext>
                </a:extLst>
              </a:tr>
            </a:tbl>
          </a:graphicData>
        </a:graphic>
      </p:graphicFrame>
    </p:spTree>
    <p:extLst>
      <p:ext uri="{BB962C8B-B14F-4D97-AF65-F5344CB8AC3E}">
        <p14:creationId xmlns:p14="http://schemas.microsoft.com/office/powerpoint/2010/main" val="369019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4CA304-8362-C30E-C72F-3A1833603418}"/>
              </a:ext>
            </a:extLst>
          </p:cNvPr>
          <p:cNvSpPr txBox="1"/>
          <p:nvPr/>
        </p:nvSpPr>
        <p:spPr>
          <a:xfrm>
            <a:off x="825910" y="483927"/>
            <a:ext cx="6479458" cy="584775"/>
          </a:xfrm>
          <a:prstGeom prst="rect">
            <a:avLst/>
          </a:prstGeom>
          <a:noFill/>
        </p:spPr>
        <p:txBody>
          <a:bodyPr wrap="square">
            <a:spAutoFit/>
          </a:bodyPr>
          <a:lstStyle/>
          <a:p>
            <a:pPr marL="457200" indent="-457200">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EXISTING METHODOLOGY:</a:t>
            </a:r>
            <a:endParaRPr lang="en-IN" sz="3200" dirty="0"/>
          </a:p>
        </p:txBody>
      </p:sp>
      <p:pic>
        <p:nvPicPr>
          <p:cNvPr id="9" name="Picture 8">
            <a:extLst>
              <a:ext uri="{FF2B5EF4-FFF2-40B4-BE49-F238E27FC236}">
                <a16:creationId xmlns:a16="http://schemas.microsoft.com/office/drawing/2014/main" id="{09F1E71C-84DB-36FF-E373-28EFBE42B9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5109" y="1587440"/>
            <a:ext cx="7113685" cy="4626547"/>
          </a:xfrm>
          <a:prstGeom prst="rect">
            <a:avLst/>
          </a:prstGeom>
        </p:spPr>
      </p:pic>
    </p:spTree>
    <p:extLst>
      <p:ext uri="{BB962C8B-B14F-4D97-AF65-F5344CB8AC3E}">
        <p14:creationId xmlns:p14="http://schemas.microsoft.com/office/powerpoint/2010/main" val="1671208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28CFCCA-F74B-7D98-5AC3-D6DE4F7018D9}"/>
              </a:ext>
            </a:extLst>
          </p:cNvPr>
          <p:cNvSpPr txBox="1"/>
          <p:nvPr/>
        </p:nvSpPr>
        <p:spPr>
          <a:xfrm>
            <a:off x="506214" y="438410"/>
            <a:ext cx="3946914" cy="523220"/>
          </a:xfrm>
          <a:prstGeom prst="rect">
            <a:avLst/>
          </a:prstGeom>
          <a:noFill/>
        </p:spPr>
        <p:txBody>
          <a:bodyPr wrap="none" rtlCol="0">
            <a:spAutoFit/>
          </a:bodyPr>
          <a:lstStyle/>
          <a:p>
            <a:pPr marL="45720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BLOCK DIAGRAM:</a:t>
            </a:r>
            <a:endParaRPr lang="en-IN" sz="2800" b="1"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9CE57163-5F87-0262-B2AA-268D420484F5}"/>
              </a:ext>
            </a:extLst>
          </p:cNvPr>
          <p:cNvPicPr>
            <a:picLocks noChangeAspect="1"/>
          </p:cNvPicPr>
          <p:nvPr/>
        </p:nvPicPr>
        <p:blipFill>
          <a:blip r:embed="rId2">
            <a:extLst>
              <a:ext uri="{28A0092B-C50C-407E-A947-70E740481C1C}">
                <a14:useLocalDpi xmlns:a14="http://schemas.microsoft.com/office/drawing/2010/main" val="0"/>
              </a:ext>
            </a:extLst>
          </a:blip>
          <a:srcRect l="1252" t="12691" r="3841" b="15407"/>
          <a:stretch>
            <a:fillRect/>
          </a:stretch>
        </p:blipFill>
        <p:spPr>
          <a:xfrm>
            <a:off x="1592267" y="961630"/>
            <a:ext cx="8603784" cy="4953353"/>
          </a:xfrm>
          <a:prstGeom prst="rect">
            <a:avLst/>
          </a:prstGeom>
        </p:spPr>
      </p:pic>
      <p:sp>
        <p:nvSpPr>
          <p:cNvPr id="17" name="Rectangle 16">
            <a:extLst>
              <a:ext uri="{FF2B5EF4-FFF2-40B4-BE49-F238E27FC236}">
                <a16:creationId xmlns:a16="http://schemas.microsoft.com/office/drawing/2014/main" id="{10A308D7-1FF8-2984-EFA2-35C588E2FF6B}"/>
              </a:ext>
            </a:extLst>
          </p:cNvPr>
          <p:cNvSpPr/>
          <p:nvPr/>
        </p:nvSpPr>
        <p:spPr>
          <a:xfrm>
            <a:off x="4095547" y="5927978"/>
            <a:ext cx="1278194" cy="49161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DC MOTOR</a:t>
            </a:r>
            <a:endParaRPr lang="en-IN" b="1" dirty="0"/>
          </a:p>
        </p:txBody>
      </p:sp>
      <p:sp>
        <p:nvSpPr>
          <p:cNvPr id="18" name="Rectangle 17">
            <a:extLst>
              <a:ext uri="{FF2B5EF4-FFF2-40B4-BE49-F238E27FC236}">
                <a16:creationId xmlns:a16="http://schemas.microsoft.com/office/drawing/2014/main" id="{5975EA14-B233-A915-CC16-036EF5824115}"/>
              </a:ext>
            </a:extLst>
          </p:cNvPr>
          <p:cNvSpPr/>
          <p:nvPr/>
        </p:nvSpPr>
        <p:spPr>
          <a:xfrm>
            <a:off x="7079432" y="5946591"/>
            <a:ext cx="1278194" cy="49161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DC MOTOR</a:t>
            </a:r>
            <a:endParaRPr lang="en-IN" b="1" dirty="0"/>
          </a:p>
        </p:txBody>
      </p:sp>
      <p:cxnSp>
        <p:nvCxnSpPr>
          <p:cNvPr id="20" name="Straight Arrow Connector 19">
            <a:extLst>
              <a:ext uri="{FF2B5EF4-FFF2-40B4-BE49-F238E27FC236}">
                <a16:creationId xmlns:a16="http://schemas.microsoft.com/office/drawing/2014/main" id="{2C9D696E-EC0D-0D42-3F12-A4A1E390AA6E}"/>
              </a:ext>
            </a:extLst>
          </p:cNvPr>
          <p:cNvCxnSpPr>
            <a:cxnSpLocks/>
          </p:cNvCxnSpPr>
          <p:nvPr/>
        </p:nvCxnSpPr>
        <p:spPr>
          <a:xfrm flipH="1">
            <a:off x="4876800" y="5624052"/>
            <a:ext cx="550607" cy="2723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D8D6AC2A-1396-DF74-B078-9E7694C1CD6A}"/>
              </a:ext>
            </a:extLst>
          </p:cNvPr>
          <p:cNvCxnSpPr>
            <a:cxnSpLocks/>
          </p:cNvCxnSpPr>
          <p:nvPr/>
        </p:nvCxnSpPr>
        <p:spPr>
          <a:xfrm>
            <a:off x="6813756" y="5624052"/>
            <a:ext cx="521109" cy="2909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Arrow: Down 47">
            <a:extLst>
              <a:ext uri="{FF2B5EF4-FFF2-40B4-BE49-F238E27FC236}">
                <a16:creationId xmlns:a16="http://schemas.microsoft.com/office/drawing/2014/main" id="{1ED65C56-914D-D1DC-154B-DDB9A96EAA02}"/>
              </a:ext>
            </a:extLst>
          </p:cNvPr>
          <p:cNvSpPr/>
          <p:nvPr/>
        </p:nvSpPr>
        <p:spPr>
          <a:xfrm>
            <a:off x="6095999" y="2113935"/>
            <a:ext cx="108155" cy="530943"/>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41816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873B5CC-5282-8230-6946-4AA1CFA36A5B}"/>
              </a:ext>
            </a:extLst>
          </p:cNvPr>
          <p:cNvSpPr txBox="1"/>
          <p:nvPr/>
        </p:nvSpPr>
        <p:spPr>
          <a:xfrm>
            <a:off x="3275838" y="318254"/>
            <a:ext cx="3472434" cy="523220"/>
          </a:xfrm>
          <a:prstGeom prst="rect">
            <a:avLst/>
          </a:prstGeom>
          <a:noFill/>
        </p:spPr>
        <p:txBody>
          <a:bodyPr wrap="square">
            <a:spAutoFit/>
          </a:bodyPr>
          <a:lstStyle/>
          <a:p>
            <a:pPr marL="45720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FLOW CHART :</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A1CF33E-3523-C01F-06A1-2F0F41B6F2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5400" y="762816"/>
            <a:ext cx="5907490" cy="5949067"/>
          </a:xfrm>
          <a:prstGeom prst="rect">
            <a:avLst/>
          </a:prstGeom>
        </p:spPr>
      </p:pic>
      <p:sp>
        <p:nvSpPr>
          <p:cNvPr id="6" name="TextBox 5">
            <a:extLst>
              <a:ext uri="{FF2B5EF4-FFF2-40B4-BE49-F238E27FC236}">
                <a16:creationId xmlns:a16="http://schemas.microsoft.com/office/drawing/2014/main" id="{D21E4F06-BEA5-5DFC-B5DD-46B24F4CD0A3}"/>
              </a:ext>
            </a:extLst>
          </p:cNvPr>
          <p:cNvSpPr txBox="1"/>
          <p:nvPr/>
        </p:nvSpPr>
        <p:spPr>
          <a:xfrm>
            <a:off x="5867059" y="2703870"/>
            <a:ext cx="457882" cy="338554"/>
          </a:xfrm>
          <a:prstGeom prst="rect">
            <a:avLst/>
          </a:prstGeom>
          <a:noFill/>
        </p:spPr>
        <p:txBody>
          <a:bodyPr wrap="none" rtlCol="0">
            <a:spAutoFit/>
          </a:bodyPr>
          <a:lstStyle/>
          <a:p>
            <a:r>
              <a:rPr lang="en-US" sz="1600" dirty="0"/>
              <a:t>yes</a:t>
            </a:r>
            <a:endParaRPr lang="en-IN" sz="1600" dirty="0"/>
          </a:p>
        </p:txBody>
      </p:sp>
      <p:sp>
        <p:nvSpPr>
          <p:cNvPr id="7" name="TextBox 6">
            <a:extLst>
              <a:ext uri="{FF2B5EF4-FFF2-40B4-BE49-F238E27FC236}">
                <a16:creationId xmlns:a16="http://schemas.microsoft.com/office/drawing/2014/main" id="{560D2273-BF86-BDB1-53D3-3A6CF13FB53D}"/>
              </a:ext>
            </a:extLst>
          </p:cNvPr>
          <p:cNvSpPr txBox="1"/>
          <p:nvPr/>
        </p:nvSpPr>
        <p:spPr>
          <a:xfrm>
            <a:off x="5867059" y="3945955"/>
            <a:ext cx="457882" cy="338554"/>
          </a:xfrm>
          <a:prstGeom prst="rect">
            <a:avLst/>
          </a:prstGeom>
          <a:noFill/>
        </p:spPr>
        <p:txBody>
          <a:bodyPr wrap="none" rtlCol="0">
            <a:spAutoFit/>
          </a:bodyPr>
          <a:lstStyle/>
          <a:p>
            <a:r>
              <a:rPr lang="en-US" sz="1600" dirty="0"/>
              <a:t>yes</a:t>
            </a:r>
            <a:endParaRPr lang="en-IN" sz="1600" dirty="0"/>
          </a:p>
        </p:txBody>
      </p:sp>
      <p:sp>
        <p:nvSpPr>
          <p:cNvPr id="9" name="TextBox 8">
            <a:extLst>
              <a:ext uri="{FF2B5EF4-FFF2-40B4-BE49-F238E27FC236}">
                <a16:creationId xmlns:a16="http://schemas.microsoft.com/office/drawing/2014/main" id="{D781D0DD-803E-8F55-E9D8-9F227EC16EEB}"/>
              </a:ext>
            </a:extLst>
          </p:cNvPr>
          <p:cNvSpPr txBox="1"/>
          <p:nvPr/>
        </p:nvSpPr>
        <p:spPr>
          <a:xfrm>
            <a:off x="4811519" y="3607401"/>
            <a:ext cx="401072" cy="338554"/>
          </a:xfrm>
          <a:prstGeom prst="rect">
            <a:avLst/>
          </a:prstGeom>
          <a:noFill/>
        </p:spPr>
        <p:txBody>
          <a:bodyPr wrap="none" rtlCol="0">
            <a:spAutoFit/>
          </a:bodyPr>
          <a:lstStyle/>
          <a:p>
            <a:r>
              <a:rPr lang="en-US" sz="1600" dirty="0"/>
              <a:t>no</a:t>
            </a:r>
            <a:endParaRPr lang="en-IN" sz="1600" dirty="0"/>
          </a:p>
        </p:txBody>
      </p:sp>
      <p:sp>
        <p:nvSpPr>
          <p:cNvPr id="11" name="TextBox 10">
            <a:extLst>
              <a:ext uri="{FF2B5EF4-FFF2-40B4-BE49-F238E27FC236}">
                <a16:creationId xmlns:a16="http://schemas.microsoft.com/office/drawing/2014/main" id="{0C060ABA-7B8E-FB26-B46D-A00E15CBA61A}"/>
              </a:ext>
            </a:extLst>
          </p:cNvPr>
          <p:cNvSpPr txBox="1"/>
          <p:nvPr/>
        </p:nvSpPr>
        <p:spPr>
          <a:xfrm>
            <a:off x="4811519" y="4990365"/>
            <a:ext cx="401072" cy="338554"/>
          </a:xfrm>
          <a:prstGeom prst="rect">
            <a:avLst/>
          </a:prstGeom>
          <a:noFill/>
        </p:spPr>
        <p:txBody>
          <a:bodyPr wrap="none" rtlCol="0">
            <a:spAutoFit/>
          </a:bodyPr>
          <a:lstStyle/>
          <a:p>
            <a:r>
              <a:rPr lang="en-US" sz="1600" dirty="0"/>
              <a:t>no</a:t>
            </a:r>
            <a:endParaRPr lang="en-IN" sz="1600" dirty="0"/>
          </a:p>
        </p:txBody>
      </p:sp>
      <p:sp>
        <p:nvSpPr>
          <p:cNvPr id="12" name="TextBox 11">
            <a:extLst>
              <a:ext uri="{FF2B5EF4-FFF2-40B4-BE49-F238E27FC236}">
                <a16:creationId xmlns:a16="http://schemas.microsoft.com/office/drawing/2014/main" id="{84B4BC7C-291F-4498-DB30-D957AD565C96}"/>
              </a:ext>
            </a:extLst>
          </p:cNvPr>
          <p:cNvSpPr txBox="1"/>
          <p:nvPr/>
        </p:nvSpPr>
        <p:spPr>
          <a:xfrm>
            <a:off x="5867059" y="1631062"/>
            <a:ext cx="457882" cy="338554"/>
          </a:xfrm>
          <a:prstGeom prst="rect">
            <a:avLst/>
          </a:prstGeom>
          <a:noFill/>
        </p:spPr>
        <p:txBody>
          <a:bodyPr wrap="none" rtlCol="0">
            <a:spAutoFit/>
          </a:bodyPr>
          <a:lstStyle/>
          <a:p>
            <a:r>
              <a:rPr lang="en-US" sz="1600" dirty="0"/>
              <a:t>yes</a:t>
            </a:r>
            <a:endParaRPr lang="en-IN" sz="1600" dirty="0"/>
          </a:p>
        </p:txBody>
      </p:sp>
      <p:sp>
        <p:nvSpPr>
          <p:cNvPr id="2" name="Rectangle 1">
            <a:extLst>
              <a:ext uri="{FF2B5EF4-FFF2-40B4-BE49-F238E27FC236}">
                <a16:creationId xmlns:a16="http://schemas.microsoft.com/office/drawing/2014/main" id="{D9DA4032-9C65-CB5E-E469-F59CC702222D}"/>
              </a:ext>
            </a:extLst>
          </p:cNvPr>
          <p:cNvSpPr/>
          <p:nvPr/>
        </p:nvSpPr>
        <p:spPr>
          <a:xfrm>
            <a:off x="4201172" y="3257973"/>
            <a:ext cx="1011419" cy="19959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Human</a:t>
            </a:r>
            <a:endParaRPr lang="en-IN" dirty="0"/>
          </a:p>
        </p:txBody>
      </p:sp>
      <p:sp>
        <p:nvSpPr>
          <p:cNvPr id="3" name="Rectangle 2">
            <a:extLst>
              <a:ext uri="{FF2B5EF4-FFF2-40B4-BE49-F238E27FC236}">
                <a16:creationId xmlns:a16="http://schemas.microsoft.com/office/drawing/2014/main" id="{98829EE8-D4AE-8154-0406-E034EA280F6E}"/>
              </a:ext>
            </a:extLst>
          </p:cNvPr>
          <p:cNvSpPr/>
          <p:nvPr/>
        </p:nvSpPr>
        <p:spPr>
          <a:xfrm>
            <a:off x="4811519" y="1126745"/>
            <a:ext cx="940352" cy="21904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dirty="0">
                <a:solidFill>
                  <a:schemeClr val="tx1">
                    <a:lumMod val="65000"/>
                    <a:lumOff val="35000"/>
                  </a:schemeClr>
                </a:solidFill>
              </a:rPr>
              <a:t>ESP 8266</a:t>
            </a:r>
            <a:endParaRPr lang="en-IN" sz="1400" b="1" dirty="0">
              <a:solidFill>
                <a:schemeClr val="tx1">
                  <a:lumMod val="65000"/>
                  <a:lumOff val="35000"/>
                </a:schemeClr>
              </a:solidFill>
            </a:endParaRPr>
          </a:p>
        </p:txBody>
      </p:sp>
    </p:spTree>
    <p:extLst>
      <p:ext uri="{BB962C8B-B14F-4D97-AF65-F5344CB8AC3E}">
        <p14:creationId xmlns:p14="http://schemas.microsoft.com/office/powerpoint/2010/main" val="244942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6C48D0D-8065-B34F-3DB5-D36DF5C8E8B3}"/>
              </a:ext>
            </a:extLst>
          </p:cNvPr>
          <p:cNvSpPr txBox="1"/>
          <p:nvPr/>
        </p:nvSpPr>
        <p:spPr>
          <a:xfrm>
            <a:off x="658368" y="274320"/>
            <a:ext cx="7765203" cy="523220"/>
          </a:xfrm>
          <a:prstGeom prst="rect">
            <a:avLst/>
          </a:prstGeom>
          <a:noFill/>
        </p:spPr>
        <p:txBody>
          <a:bodyPr wrap="none" rtlCol="0">
            <a:spAutoFit/>
          </a:bodyPr>
          <a:lstStyle/>
          <a:p>
            <a:pPr marL="342900" indent="-3429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HARDWARE AND SOFTWARE REQUIRED:</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86E0224-7FF1-7ED2-D5DF-9E144EAB33F2}"/>
              </a:ext>
            </a:extLst>
          </p:cNvPr>
          <p:cNvSpPr txBox="1"/>
          <p:nvPr/>
        </p:nvSpPr>
        <p:spPr>
          <a:xfrm>
            <a:off x="1770888" y="797540"/>
            <a:ext cx="4325112" cy="5905719"/>
          </a:xfrm>
          <a:prstGeom prst="rect">
            <a:avLst/>
          </a:prstGeom>
          <a:noFill/>
        </p:spPr>
        <p:txBody>
          <a:bodyPr wrap="square" rtlCol="0">
            <a:spAutoFit/>
          </a:bodyPr>
          <a:lstStyle/>
          <a:p>
            <a:pPr>
              <a:lnSpc>
                <a:spcPct val="150000"/>
              </a:lnSpc>
            </a:pPr>
            <a:r>
              <a:rPr lang="en-IN" sz="2000" b="1" dirty="0">
                <a:latin typeface="Times New Roman" panose="02020603050405020304" pitchFamily="18" charset="0"/>
                <a:cs typeface="Times New Roman" panose="02020603050405020304" pitchFamily="18" charset="0"/>
              </a:rPr>
              <a:t>Hardware Components</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ESP8266 NODE MCU</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MQ-5 or MQ-2 Gas Sensor</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L298N Motor Driver Module</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DC Geared Motors 2</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4-Wheel Rover Chassis</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IR Sensors</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Relay Module</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LCD Display</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12v Lead acid Battery </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Jumper Wires and Connectors</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Breadboard or PCB</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LEDs </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Rf Transceiver</a:t>
            </a:r>
          </a:p>
        </p:txBody>
      </p:sp>
      <p:sp>
        <p:nvSpPr>
          <p:cNvPr id="6" name="TextBox 5">
            <a:extLst>
              <a:ext uri="{FF2B5EF4-FFF2-40B4-BE49-F238E27FC236}">
                <a16:creationId xmlns:a16="http://schemas.microsoft.com/office/drawing/2014/main" id="{CCA8B982-A963-224F-BF85-C9397B9D5450}"/>
              </a:ext>
            </a:extLst>
          </p:cNvPr>
          <p:cNvSpPr txBox="1"/>
          <p:nvPr/>
        </p:nvSpPr>
        <p:spPr>
          <a:xfrm>
            <a:off x="5641848" y="2267712"/>
            <a:ext cx="6254496" cy="458074"/>
          </a:xfrm>
          <a:prstGeom prst="rect">
            <a:avLst/>
          </a:prstGeom>
          <a:noFill/>
        </p:spPr>
        <p:txBody>
          <a:bodyPr wrap="square" rtlCol="0">
            <a:spAutoFit/>
          </a:bodyPr>
          <a:lstStyle/>
          <a:p>
            <a:pPr>
              <a:lnSpc>
                <a:spcPct val="150000"/>
              </a:lnSpc>
            </a:pP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B354663-0B82-DB0D-2B44-9F26DDA2033D}"/>
              </a:ext>
            </a:extLst>
          </p:cNvPr>
          <p:cNvSpPr txBox="1"/>
          <p:nvPr/>
        </p:nvSpPr>
        <p:spPr>
          <a:xfrm>
            <a:off x="5630148" y="847268"/>
            <a:ext cx="6094476" cy="2581732"/>
          </a:xfrm>
          <a:prstGeom prst="rect">
            <a:avLst/>
          </a:prstGeom>
          <a:noFill/>
        </p:spPr>
        <p:txBody>
          <a:bodyPr wrap="square">
            <a:spAutoFit/>
          </a:bodyPr>
          <a:lstStyle/>
          <a:p>
            <a:pPr>
              <a:lnSpc>
                <a:spcPct val="150000"/>
              </a:lnSpc>
            </a:pPr>
            <a:r>
              <a:rPr lang="en-IN" sz="2000" b="1" dirty="0">
                <a:latin typeface="Times New Roman" panose="02020603050405020304" pitchFamily="18" charset="0"/>
                <a:cs typeface="Times New Roman" panose="02020603050405020304" pitchFamily="18" charset="0"/>
              </a:rPr>
              <a:t>Software Tools</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Arduino IDE</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ESP8266 Board Package for Arduino</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USB-to-Serial Driver (CP210x or CH340)</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Blynk App / Telegram Bot / IFTTT (for notifications)</a:t>
            </a:r>
          </a:p>
          <a:p>
            <a:pPr marL="28575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Serial Monitor (for debugging)</a:t>
            </a:r>
          </a:p>
        </p:txBody>
      </p:sp>
    </p:spTree>
    <p:extLst>
      <p:ext uri="{BB962C8B-B14F-4D97-AF65-F5344CB8AC3E}">
        <p14:creationId xmlns:p14="http://schemas.microsoft.com/office/powerpoint/2010/main" val="3245170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265E6-0BCD-F361-E4C7-2A707A054AE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2CE7EB0-E370-EA23-152D-44EC158ACB36}"/>
              </a:ext>
            </a:extLst>
          </p:cNvPr>
          <p:cNvSpPr txBox="1"/>
          <p:nvPr/>
        </p:nvSpPr>
        <p:spPr>
          <a:xfrm>
            <a:off x="658368" y="274320"/>
            <a:ext cx="4086311" cy="523220"/>
          </a:xfrm>
          <a:prstGeom prst="rect">
            <a:avLst/>
          </a:prstGeom>
          <a:noFill/>
        </p:spPr>
        <p:txBody>
          <a:bodyPr wrap="none" rtlCol="0">
            <a:spAutoFit/>
          </a:bodyPr>
          <a:lstStyle/>
          <a:p>
            <a:pPr marL="342900" indent="-342900">
              <a:buFont typeface="Wingdings" panose="05000000000000000000" pitchFamily="2" charset="2"/>
              <a:buChar char="Ø"/>
            </a:pPr>
            <a:r>
              <a:rPr lang="en-IN" sz="2800" b="1" dirty="0">
                <a:latin typeface="Times New Roman" panose="02020603050405020304" pitchFamily="18" charset="0"/>
                <a:cs typeface="Times New Roman" panose="02020603050405020304" pitchFamily="18" charset="0"/>
              </a:rPr>
              <a:t>CIRCUIT DIAGRAM:</a:t>
            </a:r>
          </a:p>
        </p:txBody>
      </p:sp>
      <p:sp>
        <p:nvSpPr>
          <p:cNvPr id="6" name="TextBox 5">
            <a:extLst>
              <a:ext uri="{FF2B5EF4-FFF2-40B4-BE49-F238E27FC236}">
                <a16:creationId xmlns:a16="http://schemas.microsoft.com/office/drawing/2014/main" id="{D6591D62-B3FF-60B0-6B9D-5CEE1413A7AE}"/>
              </a:ext>
            </a:extLst>
          </p:cNvPr>
          <p:cNvSpPr txBox="1"/>
          <p:nvPr/>
        </p:nvSpPr>
        <p:spPr>
          <a:xfrm>
            <a:off x="5641848" y="2267712"/>
            <a:ext cx="6254496" cy="458074"/>
          </a:xfrm>
          <a:prstGeom prst="rect">
            <a:avLst/>
          </a:prstGeom>
          <a:noFill/>
        </p:spPr>
        <p:txBody>
          <a:bodyPr wrap="square" rtlCol="0">
            <a:spAutoFit/>
          </a:bodyPr>
          <a:lstStyle/>
          <a:p>
            <a:pPr>
              <a:lnSpc>
                <a:spcPct val="150000"/>
              </a:lnSpc>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2D1C386-95C2-ED37-CC04-823AF2B50C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901090"/>
            <a:ext cx="8126770" cy="5668026"/>
          </a:xfrm>
          <a:prstGeom prst="rect">
            <a:avLst/>
          </a:prstGeom>
        </p:spPr>
      </p:pic>
      <p:sp>
        <p:nvSpPr>
          <p:cNvPr id="7" name="Rectangle 6">
            <a:extLst>
              <a:ext uri="{FF2B5EF4-FFF2-40B4-BE49-F238E27FC236}">
                <a16:creationId xmlns:a16="http://schemas.microsoft.com/office/drawing/2014/main" id="{D4F8CA1C-683C-C43A-9D76-90E9C5329BAB}"/>
              </a:ext>
            </a:extLst>
          </p:cNvPr>
          <p:cNvSpPr/>
          <p:nvPr/>
        </p:nvSpPr>
        <p:spPr>
          <a:xfrm>
            <a:off x="5751870" y="3097161"/>
            <a:ext cx="796413" cy="530941"/>
          </a:xfrm>
          <a:prstGeom prst="rect">
            <a:avLst/>
          </a:prstGeom>
          <a:solidFill>
            <a:schemeClr val="bg2">
              <a:lumMod val="9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ESP</a:t>
            </a:r>
          </a:p>
          <a:p>
            <a:pPr algn="ctr"/>
            <a:r>
              <a:rPr lang="en-US" dirty="0"/>
              <a:t>8266</a:t>
            </a:r>
            <a:endParaRPr lang="en-IN" dirty="0"/>
          </a:p>
        </p:txBody>
      </p:sp>
    </p:spTree>
    <p:extLst>
      <p:ext uri="{BB962C8B-B14F-4D97-AF65-F5344CB8AC3E}">
        <p14:creationId xmlns:p14="http://schemas.microsoft.com/office/powerpoint/2010/main" val="981976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8B1E07-4355-71D8-9F2C-6B42BCA3C6EF}"/>
              </a:ext>
            </a:extLst>
          </p:cNvPr>
          <p:cNvSpPr txBox="1"/>
          <p:nvPr/>
        </p:nvSpPr>
        <p:spPr>
          <a:xfrm>
            <a:off x="530942" y="347567"/>
            <a:ext cx="6343981" cy="523220"/>
          </a:xfrm>
          <a:prstGeom prst="rect">
            <a:avLst/>
          </a:prstGeom>
          <a:noFill/>
        </p:spPr>
        <p:txBody>
          <a:bodyPr wrap="none" rtlCol="0">
            <a:spAutoFit/>
          </a:bodyPr>
          <a:lstStyle/>
          <a:p>
            <a:pPr marL="45720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PROTEUS SIMULATION OUTPUT</a:t>
            </a:r>
            <a:endParaRPr lang="en-IN" sz="2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1F62124-6876-FFE6-F392-179F11FBD1B6}"/>
              </a:ext>
            </a:extLst>
          </p:cNvPr>
          <p:cNvSpPr txBox="1"/>
          <p:nvPr/>
        </p:nvSpPr>
        <p:spPr>
          <a:xfrm>
            <a:off x="3938906" y="947731"/>
            <a:ext cx="3553537" cy="369332"/>
          </a:xfrm>
          <a:prstGeom prst="rect">
            <a:avLst/>
          </a:prstGeom>
          <a:noFill/>
        </p:spPr>
        <p:txBody>
          <a:bodyPr wrap="none" rtlCol="0">
            <a:spAutoFit/>
          </a:bodyPr>
          <a:lstStyle/>
          <a:p>
            <a:r>
              <a:rPr lang="en-US" dirty="0"/>
              <a:t>LINE FOLLOWER &amp; AVOID OBSTACLE</a:t>
            </a:r>
            <a:endParaRPr lang="en-IN" dirty="0"/>
          </a:p>
        </p:txBody>
      </p:sp>
      <p:pic>
        <p:nvPicPr>
          <p:cNvPr id="10" name="Picture 9">
            <a:extLst>
              <a:ext uri="{FF2B5EF4-FFF2-40B4-BE49-F238E27FC236}">
                <a16:creationId xmlns:a16="http://schemas.microsoft.com/office/drawing/2014/main" id="{C9B804A6-9112-651D-6C99-D72B6F6283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034" y="1267903"/>
            <a:ext cx="9871587" cy="5358862"/>
          </a:xfrm>
          <a:prstGeom prst="rect">
            <a:avLst/>
          </a:prstGeom>
        </p:spPr>
      </p:pic>
    </p:spTree>
    <p:extLst>
      <p:ext uri="{BB962C8B-B14F-4D97-AF65-F5344CB8AC3E}">
        <p14:creationId xmlns:p14="http://schemas.microsoft.com/office/powerpoint/2010/main" val="1227310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7F260D-681E-4CF7-1FBC-7B1E81A5A639}"/>
              </a:ext>
            </a:extLst>
          </p:cNvPr>
          <p:cNvSpPr txBox="1"/>
          <p:nvPr/>
        </p:nvSpPr>
        <p:spPr>
          <a:xfrm>
            <a:off x="619431" y="393291"/>
            <a:ext cx="2733368" cy="523220"/>
          </a:xfrm>
          <a:prstGeom prst="rect">
            <a:avLst/>
          </a:prstGeom>
          <a:noFill/>
        </p:spPr>
        <p:txBody>
          <a:bodyPr wrap="square" rtlCol="0">
            <a:spAutoFit/>
          </a:bodyPr>
          <a:lstStyle/>
          <a:p>
            <a:pPr marL="342900" indent="-3429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PROTOTYPE</a:t>
            </a:r>
            <a:endParaRPr lang="en-IN" sz="2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1AE9B57-DE51-81DD-51DE-196676AA13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492" y="1312659"/>
            <a:ext cx="5574657" cy="4517869"/>
          </a:xfrm>
          <a:prstGeom prst="rect">
            <a:avLst/>
          </a:prstGeom>
        </p:spPr>
      </p:pic>
      <p:pic>
        <p:nvPicPr>
          <p:cNvPr id="6" name="Picture 5">
            <a:extLst>
              <a:ext uri="{FF2B5EF4-FFF2-40B4-BE49-F238E27FC236}">
                <a16:creationId xmlns:a16="http://schemas.microsoft.com/office/drawing/2014/main" id="{03322339-C1C2-98BF-9048-91539F1D8E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3252" y="1312660"/>
            <a:ext cx="5004222" cy="4517867"/>
          </a:xfrm>
          <a:prstGeom prst="rect">
            <a:avLst/>
          </a:prstGeom>
        </p:spPr>
      </p:pic>
    </p:spTree>
    <p:extLst>
      <p:ext uri="{BB962C8B-B14F-4D97-AF65-F5344CB8AC3E}">
        <p14:creationId xmlns:p14="http://schemas.microsoft.com/office/powerpoint/2010/main" val="527535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505CC67-77D6-0DFA-5258-AB06BDEF5D5F}"/>
              </a:ext>
            </a:extLst>
          </p:cNvPr>
          <p:cNvSpPr txBox="1"/>
          <p:nvPr/>
        </p:nvSpPr>
        <p:spPr>
          <a:xfrm>
            <a:off x="630936" y="320040"/>
            <a:ext cx="2636556" cy="523220"/>
          </a:xfrm>
          <a:prstGeom prst="rect">
            <a:avLst/>
          </a:prstGeom>
          <a:noFill/>
        </p:spPr>
        <p:txBody>
          <a:bodyPr wrap="none" rtlCol="0">
            <a:spAutoFit/>
          </a:bodyPr>
          <a:lstStyle/>
          <a:p>
            <a:pPr marL="45720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SUMMARY:</a:t>
            </a:r>
            <a:endParaRPr lang="en-IN" sz="28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E79E401-F4B5-2971-A18E-3E30D0E606A9}"/>
              </a:ext>
            </a:extLst>
          </p:cNvPr>
          <p:cNvSpPr txBox="1"/>
          <p:nvPr/>
        </p:nvSpPr>
        <p:spPr>
          <a:xfrm>
            <a:off x="722376" y="989564"/>
            <a:ext cx="10488168" cy="502855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proposed gas-sensing rover system effectively enhances safety measures in industrial environments where LPG cylinders are stored. By integrating the ESP8266 microcontroller, gas sensors, obstacle avoidance modules, and wireless communication capabilities, the rover can autonomously patrol a designated area in a linear path.</a:t>
            </a: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Upon detecting an LPG leak, the system promptly triggers a series of safety protocols: it sends an immediate signal to cut off the power supply to the miniature storage room, activates a local alarm system to alert nearby personnel, and sends a real-time notification to the user's mobile device. This layered response ensures rapid detection and mitigation of potential hazards, thereby significantly reducing the risk of fire or explosion. </a:t>
            </a: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project demonstrates a cost-effective, efficient, and scalable solution for gas leak detection and response in industrial settings, with the potential for future enhancements such as real-time video monitoring, path optimization, and cloud-based analytics for predictive maintenance.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9253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10D59B5-DD6D-EC21-AC0B-1330EBA4D739}"/>
              </a:ext>
            </a:extLst>
          </p:cNvPr>
          <p:cNvSpPr txBox="1"/>
          <p:nvPr/>
        </p:nvSpPr>
        <p:spPr>
          <a:xfrm>
            <a:off x="987552" y="420624"/>
            <a:ext cx="3180679" cy="523220"/>
          </a:xfrm>
          <a:prstGeom prst="rect">
            <a:avLst/>
          </a:prstGeom>
          <a:noFill/>
        </p:spPr>
        <p:txBody>
          <a:bodyPr wrap="none" rtlCol="0">
            <a:spAutoFit/>
          </a:bodyPr>
          <a:lstStyle/>
          <a:p>
            <a:pPr marL="45720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REFERENCES:</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9DAD85A-7571-D54A-113F-CCBA8DAB134A}"/>
              </a:ext>
            </a:extLst>
          </p:cNvPr>
          <p:cNvSpPr txBox="1"/>
          <p:nvPr/>
        </p:nvSpPr>
        <p:spPr>
          <a:xfrm>
            <a:off x="1069848" y="1163300"/>
            <a:ext cx="10369296" cy="5078313"/>
          </a:xfrm>
          <a:prstGeom prst="rect">
            <a:avLst/>
          </a:prstGeom>
          <a:noFill/>
        </p:spPr>
        <p:txBody>
          <a:bodyPr wrap="square" rtlCol="0">
            <a:spAutoFit/>
          </a:bodyPr>
          <a:lstStyle/>
          <a:p>
            <a:pPr marL="342900" indent="-342900">
              <a:buFont typeface="+mj-lt"/>
              <a:buAutoNum type="arabicPeriod"/>
            </a:pPr>
            <a:r>
              <a:rPr lang="en-US" dirty="0">
                <a:latin typeface="Times New Roman" panose="02020603050405020304" pitchFamily="18" charset="0"/>
                <a:cs typeface="Times New Roman" panose="02020603050405020304" pitchFamily="18" charset="0"/>
              </a:rPr>
              <a:t>D. S. Simbeye, “Gas Leakage Detection System (GLDS),” Tanzania Journal of Engineering and Technology, vol. 34, no. 1, 2017.</a:t>
            </a:r>
          </a:p>
          <a:p>
            <a:pPr marL="342900" indent="-342900">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Z. H. Soh, S. A. Abdullah, M. A. Shafie, and M. N. Ibrahim, “Home and industrial safety IoT on LPG gas leakage detection and alert system,” Int. J. Advance Soft Compu. Appl, vol. 11, no. 1, 2019.</a:t>
            </a:r>
          </a:p>
          <a:p>
            <a:pPr marL="342900" indent="-342900">
              <a:buFont typeface="+mj-lt"/>
              <a:buAutoNum type="arabicPeriod"/>
            </a:pPr>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IN" dirty="0" err="1">
                <a:latin typeface="Times New Roman" panose="02020603050405020304" pitchFamily="18" charset="0"/>
                <a:cs typeface="Times New Roman" panose="02020603050405020304" pitchFamily="18" charset="0"/>
              </a:rPr>
              <a:t>R.Macfos</a:t>
            </a:r>
            <a:r>
              <a:rPr lang="en-IN" dirty="0">
                <a:latin typeface="Times New Roman" panose="02020603050405020304" pitchFamily="18" charset="0"/>
                <a:cs typeface="Times New Roman" panose="02020603050405020304" pitchFamily="18" charset="0"/>
              </a:rPr>
              <a:t>, Ed., “MQ Series Gas Sensor,” Robu.in | Indian Online Store | RC Hobby | Robotics, 16 - Aug - 2020. [Online]. Available: </a:t>
            </a:r>
            <a:r>
              <a:rPr lang="en-IN"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https://robu.in/mq-series-gas-sensor/</a:t>
            </a:r>
            <a:r>
              <a:rPr lang="en-IN" dirty="0">
                <a:latin typeface="Times New Roman" panose="02020603050405020304" pitchFamily="18" charset="0"/>
                <a:cs typeface="Times New Roman" panose="02020603050405020304" pitchFamily="18" charset="0"/>
              </a:rPr>
              <a:t>.</a:t>
            </a:r>
          </a:p>
          <a:p>
            <a:pPr marL="342900" indent="-342900">
              <a:buFont typeface="+mj-lt"/>
              <a:buAutoNum type="arabicPeriod"/>
            </a:pPr>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T. with ESP32, “The internet of things with ESP32,” The Internet of Things with ESP32, 2020.http://esp32.net/.</a:t>
            </a:r>
          </a:p>
          <a:p>
            <a:pPr marL="342900" indent="-342900">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T. Nguyen and A. V. Nguyen, “IoT Application for Gas Leakages Monitoring,” Engineering and Science, vol. 5, no. 4, pp. 51 - 53, 2020.</a:t>
            </a:r>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Y. Chen and Y. Zhang, “Development of an IoT-based gas detection system for smart homes,” Journal of Sensors and Actuators, vol. 43, no. 2, pp. 101 - 110, 2020.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10.1016/jsenact.2020.03.015.</a:t>
            </a: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5066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0F8EC05-A4C7-0CB4-B634-38C799814AB6}"/>
              </a:ext>
            </a:extLst>
          </p:cNvPr>
          <p:cNvSpPr txBox="1"/>
          <p:nvPr/>
        </p:nvSpPr>
        <p:spPr>
          <a:xfrm>
            <a:off x="3602736" y="2752785"/>
            <a:ext cx="3768852" cy="769441"/>
          </a:xfrm>
          <a:prstGeom prst="rect">
            <a:avLst/>
          </a:prstGeom>
          <a:noFill/>
        </p:spPr>
        <p:txBody>
          <a:bodyPr wrap="none" rtlCol="0">
            <a:spAutoFit/>
          </a:bodyPr>
          <a:lstStyle/>
          <a:p>
            <a:pPr algn="ctr"/>
            <a:r>
              <a:rPr lang="en-US" sz="4400" b="1" dirty="0">
                <a:latin typeface="Times New Roman" panose="02020603050405020304" pitchFamily="18" charset="0"/>
                <a:cs typeface="Times New Roman" panose="02020603050405020304" pitchFamily="18" charset="0"/>
              </a:rPr>
              <a:t>THANK  YOU</a:t>
            </a:r>
            <a:endParaRPr lang="en-IN"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24688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632</TotalTime>
  <Words>1500</Words>
  <Application>Microsoft Office PowerPoint</Application>
  <PresentationFormat>Widescreen</PresentationFormat>
  <Paragraphs>157</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logendraprasanna@outlook.com</dc:creator>
  <cp:lastModifiedBy>logendraprasanna@outlook.com</cp:lastModifiedBy>
  <cp:revision>19</cp:revision>
  <dcterms:created xsi:type="dcterms:W3CDTF">2025-08-08T13:02:12Z</dcterms:created>
  <dcterms:modified xsi:type="dcterms:W3CDTF">2025-11-08T05:22:53Z</dcterms:modified>
</cp:coreProperties>
</file>